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1" r:id="rId6"/>
    <p:sldId id="258"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7018"/>
    <a:srgbClr val="00A7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FCE0D-32A5-4DEA-9E12-CB755EA1FACC}" v="72" dt="2023-03-24T23:19:40.919"/>
    <p1510:client id="{49D018A3-2D64-4FC8-B132-8FF03F8716C8}" v="46" dt="2023-03-24T23:22:05.892"/>
    <p1510:client id="{EC40C388-624B-41A8-AA48-BEDE8D7A09AC}" v="1573" dt="2023-03-24T20:05:28.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64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(0:00 - 0:35)</a:t>
            </a:r>
          </a:p>
          <a:p>
            <a:r>
              <a:t>Good morning. I'm Simon Havlík from the Faculty of International Relations at VŠE. Today, I'm presenting Verxl Protocol: a capital-light, decentralized clearing switch for global AI inference. Every day, millions of dollars are spent on AI inference through AWS, Azure, and OpenAI. These centralized giants charge 80 to 90% gross margins. Verxl replaces these predatory walled gardens with a stateless, non-custodial clearing protocol that charges only a 50 basis point clearing fee.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(0:35 - 0:45)</a:t>
            </a:r>
          </a:p>
          <a:p>
            <a:r>
              <a:t>Let's look at the core problem in the current artificial intelligence compute market.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(0:45 - 1:30)</a:t>
            </a:r>
          </a:p>
          <a:p>
            <a:r>
              <a:t>Look at this breakdown: on the left, hyperscalers like AWS and OpenAI operate like feudal landlords. They markup open-source models like DeepSeek and Qwen by up to 90%, enforce mandatory identity surveillance, and freeze accounts arbitrarily. In the middle, independent datacenter operators across Europe and Asia have thousands of high-performance GPUs sitting idle because they lack retail distribution. On the right is our solution: Verxl Protocol. We built a stateless clearing switch at the edge. Developers plug in our OpenAI-compatible endpoint, their request is routed in 4 milliseconds to the best available compute node, and the protocol settles the transaction via Arbitrum Layer 2 for a microscopic 50 basis point clearing fee.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(1:30 - 1:40)</a:t>
            </a:r>
          </a:p>
          <a:p>
            <a:r>
              <a:t>Now, who is the customer, and why does this have massive product-market fit right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(1:40 - 2:25)</a:t>
            </a:r>
          </a:p>
          <a:p>
            <a:r>
              <a:t>As an economics and finance student, customer acquisition cost is everything. Our target audience consists of three interconnected crypto-native personas. First, tech-savvy developers building autonomous agents and quant bots. They don't want a corporate dashboard; they want a drop-in API. Second, privacy advocates and European fintech firms who cannot legally have their proprietary algorithms harvested by Silicon Valley giants. And third, crypto-native power users who rally around decentralized protocols. In traditional fintech, customer acquisition cost is $150 to $300. In Verxl, because users are incentivized by transparent on-chain clearing and DAO rewards, our customer acquisition cost is virtually zero. Every developer who switches from OpenAI immediately saves 90% and brings perpetual clearing volume.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(2:25 - 2:35)</a:t>
            </a:r>
          </a:p>
          <a:p>
            <a:r>
              <a:t>Let me outline my direct role and technical execution in building this protocol.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(2:35 - 3:15)</a:t>
            </a:r>
          </a:p>
          <a:p>
            <a:r>
              <a:t>My role is that of founder, full-stack quantitative architect, and systems engineer. I personally built all four layers of this protocol. First, on-chain: I deployed the Aragon OSx governance contracts, the $VRXL staking token, and the non-custodial escrow vaults. Second, the edge network: I built the stateless clearing router that executes in under 4 milliseconds and verifies node quality using our seed=42 canary engine. Third, the financial ledger: I designed the PostgreSQL transaction engine, PBKDF2 cryptographic password hashing, and RFC 6238 two-factor authentication. And fourth, physical infrastructure: I set up our bare-metal Vulkan cluster in Prague and automated key synchronization across our Oracle Cloud VMs. This is not a theoretical whitepaper; it is live, running software.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(3:15 - 3:25)</a:t>
            </a:r>
          </a:p>
          <a:p>
            <a:r>
              <a:t>What is the ultimate financial and technological goal of Verxl Protocol?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(3:25 - 4:05)</a:t>
            </a:r>
          </a:p>
          <a:p>
            <a:r>
              <a:t>From an economic standpoint, look at our unit economics on slide 9. We have zero hardware capital expenditure. Zero depreciation. Zero electricity bills. Visa does not own banks; NASDAQ does not own stocks. They are clearinghouses. Verxl is the clearinghouse for artificial intelligence. On every dollar of compute cleared across our network, we collect 50 basis points. At 50 billion tokens a month, that is $3 million in monthly gross volume and $180,000 in annualized net protocol cash flow. At 1 trillion tokens — which top AI apps already process — the 50 bps switch yields $3.6 million annually in pure protocol revenue, flowing directly into the Aragon OSx DAO treasury to reward token stakers.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(4:05 - 4:15)</a:t>
            </a:r>
          </a:p>
          <a:p>
            <a:r>
              <a:t>How do we measure success, and how is the protocol protected from legal and market risks?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(4:05 - 4:35)</a:t>
            </a:r>
          </a:p>
          <a:p>
            <a:r>
              <a:t>We evaluate success through four rigorous mathematical metrics: Gross volume, routing latency under 5 milliseconds, 99.99% uptime enforced by automated slashing, and treasury accumulation. Equally vital is legal defensibility under European law. Under the EU MiCA framework, Verxl is strictly non-custodial. We do not intermediate fiat, hold custody of deposits, or execute discretionary trades. Furthermore, because our edge router streams data without storing prompts on disk, we have complete GDPR and EU AI Act compliance. This creates an unassailable institutional moat.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(4:35 - 4:45)</a:t>
            </a:r>
          </a:p>
          <a:p>
            <a:r>
              <a:t>Finally, our technical and operational roadmap spanning 2026 through 2028.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(4:45 - 5:05)</a:t>
            </a:r>
          </a:p>
          <a:p>
            <a:r>
              <a:t>To conclude, our roadmap spans four clear horizons. Horizon 1 is not a future promise — it is operational right now on mainnet at verxl.com. Horizon 2 introduces decentralized provider staking and automated canary slashing. Horizon 3 brings zero-knowledge cryptographic proofs of inference. And Horizon 4 unlocks the true machine-to-machine economy where autonomous AI agents pay each other directly via HTTP 402.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(5:05 - 5:20)</a:t>
            </a:r>
          </a:p>
          <a:p>
            <a:r>
              <a:t>Thank you for your time. The platform is live at verxl.com, our smart contracts are on-chain, and our documentation is open. I welcome any questions or feedback from the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725E9D-9D43-5B8F-6EBA-75BDC2E5DED7}"/>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B2927BE6-949E-9D2B-AA24-B73843633B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243588AB-4EE9-1343-27CA-F3D17504F161}"/>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5" name="Zástupný symbol pro zápatí 4">
            <a:extLst>
              <a:ext uri="{FF2B5EF4-FFF2-40B4-BE49-F238E27FC236}">
                <a16:creationId xmlns:a16="http://schemas.microsoft.com/office/drawing/2014/main" id="{2C493CC3-6A87-8535-9D29-C446700AAEC0}"/>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625C9BC-638C-EA36-940A-22B056B3F243}"/>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307112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4AD82CE-9968-07AE-844E-D1EEB36F4AD1}"/>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63F2F517-926F-A577-8CD5-612E54662A97}"/>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127EAD90-9223-A428-543C-FAA7FFB4D1DC}"/>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5" name="Zástupný symbol pro zápatí 4">
            <a:extLst>
              <a:ext uri="{FF2B5EF4-FFF2-40B4-BE49-F238E27FC236}">
                <a16:creationId xmlns:a16="http://schemas.microsoft.com/office/drawing/2014/main" id="{BF730BE0-C79F-044E-B48C-2ACAC61694B3}"/>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6CBB72B6-7AD1-4954-0AE8-A20A58085FA2}"/>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2655230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3E1EF34-AF54-E8F4-F889-BFA5102C9AA4}"/>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text 2">
            <a:extLst>
              <a:ext uri="{FF2B5EF4-FFF2-40B4-BE49-F238E27FC236}">
                <a16:creationId xmlns:a16="http://schemas.microsoft.com/office/drawing/2014/main" id="{A5475AAB-AD04-9BAE-B611-DBFA43963F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BA9AFDCC-B4ED-755A-ACE1-870ECF1F9E97}"/>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5" name="Zástupný symbol pro zápatí 4">
            <a:extLst>
              <a:ext uri="{FF2B5EF4-FFF2-40B4-BE49-F238E27FC236}">
                <a16:creationId xmlns:a16="http://schemas.microsoft.com/office/drawing/2014/main" id="{71C81D5D-57D8-855B-5F37-C98C8CFCF7B5}"/>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A9037B4-8FEC-9E1F-A246-317FC8EAF05E}"/>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663539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A0407D4-0A55-3B69-9101-45332619C78D}"/>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AC3F0F16-94EF-664C-8FAD-A4139ED4BBC0}"/>
              </a:ext>
            </a:extLst>
          </p:cNvPr>
          <p:cNvSpPr>
            <a:spLocks noGrp="1"/>
          </p:cNvSpPr>
          <p:nvPr>
            <p:ph sz="half" idx="1"/>
          </p:nvPr>
        </p:nvSpPr>
        <p:spPr>
          <a:xfrm>
            <a:off x="838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F947E6C9-EA48-0DBB-D077-5F10615BEED9}"/>
              </a:ext>
            </a:extLst>
          </p:cNvPr>
          <p:cNvSpPr>
            <a:spLocks noGrp="1"/>
          </p:cNvSpPr>
          <p:nvPr>
            <p:ph sz="half" idx="2"/>
          </p:nvPr>
        </p:nvSpPr>
        <p:spPr>
          <a:xfrm>
            <a:off x="6172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2126E154-AE80-B5BA-C9FA-277AFFF477B9}"/>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6" name="Zástupný symbol pro zápatí 5">
            <a:extLst>
              <a:ext uri="{FF2B5EF4-FFF2-40B4-BE49-F238E27FC236}">
                <a16:creationId xmlns:a16="http://schemas.microsoft.com/office/drawing/2014/main" id="{6C0144B7-1D86-918A-0369-8F35F6674F7F}"/>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63754B5A-201D-3174-B13D-09A6856991C7}"/>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1050871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D96DF9A-CF7A-C7C1-1C5D-0E1C6E96F86C}"/>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text 2">
            <a:extLst>
              <a:ext uri="{FF2B5EF4-FFF2-40B4-BE49-F238E27FC236}">
                <a16:creationId xmlns:a16="http://schemas.microsoft.com/office/drawing/2014/main" id="{5543FF55-BE49-2646-FF78-8DF2E690F1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0FE1F0AC-545E-8F6A-E7FA-365A50D89F9D}"/>
              </a:ext>
            </a:extLst>
          </p:cNvPr>
          <p:cNvSpPr>
            <a:spLocks noGrp="1"/>
          </p:cNvSpPr>
          <p:nvPr>
            <p:ph sz="half" idx="2"/>
          </p:nvPr>
        </p:nvSpPr>
        <p:spPr>
          <a:xfrm>
            <a:off x="839788"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4113E0F9-6027-485C-0D42-F50FEB43E3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41633B31-AE49-F6BA-9529-3BA7A5C6F6F5}"/>
              </a:ext>
            </a:extLst>
          </p:cNvPr>
          <p:cNvSpPr>
            <a:spLocks noGrp="1"/>
          </p:cNvSpPr>
          <p:nvPr>
            <p:ph sz="quarter" idx="4"/>
          </p:nvPr>
        </p:nvSpPr>
        <p:spPr>
          <a:xfrm>
            <a:off x="6172200"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D486D974-1FB3-396A-7C16-FA5AB7B73C5D}"/>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8" name="Zástupný symbol pro zápatí 7">
            <a:extLst>
              <a:ext uri="{FF2B5EF4-FFF2-40B4-BE49-F238E27FC236}">
                <a16:creationId xmlns:a16="http://schemas.microsoft.com/office/drawing/2014/main" id="{B9EBDC1C-6036-18B8-B278-5C9B9533A5DA}"/>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6A8037C9-41F6-48AF-33CB-665BADDDE2FA}"/>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2155185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BB72A31-F209-FE1F-C195-310A9D59317E}"/>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92548C21-2219-12A9-D971-DD5E9CFABBE3}"/>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4" name="Zástupný symbol pro zápatí 3">
            <a:extLst>
              <a:ext uri="{FF2B5EF4-FFF2-40B4-BE49-F238E27FC236}">
                <a16:creationId xmlns:a16="http://schemas.microsoft.com/office/drawing/2014/main" id="{5A6FB549-6B5E-3C55-B589-37ADE20AC7C6}"/>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4F25FBE8-875D-B32F-6E9E-D3EEF9EDF39A}"/>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1117310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5FDE3ABB-48A9-AEC4-D1EB-F002F1D0051F}"/>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3" name="Zástupný symbol pro zápatí 2">
            <a:extLst>
              <a:ext uri="{FF2B5EF4-FFF2-40B4-BE49-F238E27FC236}">
                <a16:creationId xmlns:a16="http://schemas.microsoft.com/office/drawing/2014/main" id="{BA943863-C2BE-36B3-D577-D0A72055EBA9}"/>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7E63DEE5-4430-DB9C-708E-96DEF24661CD}"/>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2601940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6865CB-A487-EB59-59AD-A06A89810F35}"/>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obsah 2">
            <a:extLst>
              <a:ext uri="{FF2B5EF4-FFF2-40B4-BE49-F238E27FC236}">
                <a16:creationId xmlns:a16="http://schemas.microsoft.com/office/drawing/2014/main" id="{43BBBC28-9461-1102-74B7-B8CFC7BE9A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8A20049C-2220-D5E2-1F83-E359DD4B8D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4DF09E16-FC30-A88C-01AB-C6CABB9ED99B}"/>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6" name="Zástupný symbol pro zápatí 5">
            <a:extLst>
              <a:ext uri="{FF2B5EF4-FFF2-40B4-BE49-F238E27FC236}">
                <a16:creationId xmlns:a16="http://schemas.microsoft.com/office/drawing/2014/main" id="{4722F420-2D51-F68F-DAD7-664DFA0F9896}"/>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83BCDF85-03BA-1444-96C8-15598227F042}"/>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2196639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6B6515E-7166-C558-0A54-CB865AB16A7F}"/>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1D424105-4F13-2D39-3D93-FB915DF57D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text 3">
            <a:extLst>
              <a:ext uri="{FF2B5EF4-FFF2-40B4-BE49-F238E27FC236}">
                <a16:creationId xmlns:a16="http://schemas.microsoft.com/office/drawing/2014/main" id="{F5804BC5-79FF-526E-0623-FB242B9C0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46632011-1906-EFF8-6A44-E1D5982B2E44}"/>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6" name="Zástupný symbol pro zápatí 5">
            <a:extLst>
              <a:ext uri="{FF2B5EF4-FFF2-40B4-BE49-F238E27FC236}">
                <a16:creationId xmlns:a16="http://schemas.microsoft.com/office/drawing/2014/main" id="{9A30F28A-6BC4-3B9A-ECA7-ABD6F5487682}"/>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E4E00A17-A426-B3D3-1E50-7405B3A43E6A}"/>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2645177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668D5A5-5388-2B07-A1B9-4BE699E341EE}"/>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79F77236-1036-E4B0-809D-45C0959D090D}"/>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7A538B0C-625F-9807-7539-8FB8C2CD12DD}"/>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5" name="Zástupný symbol pro zápatí 4">
            <a:extLst>
              <a:ext uri="{FF2B5EF4-FFF2-40B4-BE49-F238E27FC236}">
                <a16:creationId xmlns:a16="http://schemas.microsoft.com/office/drawing/2014/main" id="{AAC90EC9-E55C-89D3-1E87-C9FE5CDF58C4}"/>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B8C96E05-6F05-3045-1904-4E0CD5511B22}"/>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3703505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9EA788A6-2475-2537-2BB7-5C76AEDB095B}"/>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051F6194-D82A-D0C9-B569-7C6586210900}"/>
              </a:ext>
            </a:extLst>
          </p:cNvPr>
          <p:cNvSpPr>
            <a:spLocks noGrp="1"/>
          </p:cNvSpPr>
          <p:nvPr>
            <p:ph type="body" orient="vert" idx="1"/>
          </p:nvPr>
        </p:nvSpPr>
        <p:spPr>
          <a:xfrm>
            <a:off x="838200" y="365125"/>
            <a:ext cx="7734300"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07630106-90EF-A8C9-F864-EB253D7B557F}"/>
              </a:ext>
            </a:extLst>
          </p:cNvPr>
          <p:cNvSpPr>
            <a:spLocks noGrp="1"/>
          </p:cNvSpPr>
          <p:nvPr>
            <p:ph type="dt" sz="half" idx="10"/>
          </p:nvPr>
        </p:nvSpPr>
        <p:spPr/>
        <p:txBody>
          <a:bodyPr/>
          <a:lstStyle/>
          <a:p>
            <a:fld id="{4554B239-4AC8-45EB-B42D-A45531AD8587}" type="datetimeFigureOut">
              <a:rPr lang="cs-CZ" smtClean="0"/>
              <a:t>19.10.2023</a:t>
            </a:fld>
            <a:endParaRPr lang="cs-CZ"/>
          </a:p>
        </p:txBody>
      </p:sp>
      <p:sp>
        <p:nvSpPr>
          <p:cNvPr id="5" name="Zástupný symbol pro zápatí 4">
            <a:extLst>
              <a:ext uri="{FF2B5EF4-FFF2-40B4-BE49-F238E27FC236}">
                <a16:creationId xmlns:a16="http://schemas.microsoft.com/office/drawing/2014/main" id="{C991199A-F80E-E477-3592-2C9746F01FA9}"/>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91934B01-FDE6-4F51-F1A1-0EE95B2DE54C}"/>
              </a:ext>
            </a:extLst>
          </p:cNvPr>
          <p:cNvSpPr>
            <a:spLocks noGrp="1"/>
          </p:cNvSpPr>
          <p:nvPr>
            <p:ph type="sldNum" sz="quarter" idx="12"/>
          </p:nvPr>
        </p:nvSpPr>
        <p:spPr/>
        <p:txBody>
          <a:bodyPr/>
          <a:lstStyle/>
          <a:p>
            <a:fld id="{410EA10F-EEA8-49F1-87A0-A064F399675E}" type="slidenum">
              <a:rPr lang="cs-CZ" smtClean="0"/>
              <a:t>‹#›</a:t>
            </a:fld>
            <a:endParaRPr lang="cs-CZ"/>
          </a:p>
        </p:txBody>
      </p:sp>
    </p:spTree>
    <p:extLst>
      <p:ext uri="{BB962C8B-B14F-4D97-AF65-F5344CB8AC3E}">
        <p14:creationId xmlns:p14="http://schemas.microsoft.com/office/powerpoint/2010/main" val="41891552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A4D247A1-2803-A936-C7D3-52D2347D00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AA52387D-BCE9-6FD2-5CAD-926B8E60E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E3695BA6-DF5D-75C1-E156-89AF5A45DB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54B239-4AC8-45EB-B42D-A45531AD8587}" type="datetimeFigureOut">
              <a:rPr lang="cs-CZ" smtClean="0"/>
              <a:t>19.10.2023</a:t>
            </a:fld>
            <a:endParaRPr lang="cs-CZ"/>
          </a:p>
        </p:txBody>
      </p:sp>
      <p:sp>
        <p:nvSpPr>
          <p:cNvPr id="5" name="Zástupný symbol pro zápatí 4">
            <a:extLst>
              <a:ext uri="{FF2B5EF4-FFF2-40B4-BE49-F238E27FC236}">
                <a16:creationId xmlns:a16="http://schemas.microsoft.com/office/drawing/2014/main" id="{C2309620-CC91-09BB-33D8-186CA2B42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D877A51B-9B1F-7C61-6BB0-1F2142033A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EA10F-EEA8-49F1-87A0-A064F399675E}" type="slidenum">
              <a:rPr lang="cs-CZ" smtClean="0"/>
              <a:t>‹#›</a:t>
            </a:fld>
            <a:endParaRPr lang="cs-CZ"/>
          </a:p>
        </p:txBody>
      </p:sp>
    </p:spTree>
    <p:extLst>
      <p:ext uri="{BB962C8B-B14F-4D97-AF65-F5344CB8AC3E}">
        <p14:creationId xmlns:p14="http://schemas.microsoft.com/office/powerpoint/2010/main" val="2604521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Obrázek 6" descr="Obsah obrázku text&#10;&#10;Popis byl vytvořen automaticky">
            <a:extLst>
              <a:ext uri="{FF2B5EF4-FFF2-40B4-BE49-F238E27FC236}">
                <a16:creationId xmlns:a16="http://schemas.microsoft.com/office/drawing/2014/main" id="{096FD19B-4955-322C-033A-347C76AF55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390" y="608565"/>
            <a:ext cx="4161577" cy="835353"/>
          </a:xfrm>
          <a:prstGeom prst="rect">
            <a:avLst/>
          </a:prstGeom>
        </p:spPr>
      </p:pic>
      <p:sp>
        <p:nvSpPr>
          <p:cNvPr id="8" name="TextovéPole 7">
            <a:extLst>
              <a:ext uri="{FF2B5EF4-FFF2-40B4-BE49-F238E27FC236}">
                <a16:creationId xmlns:a16="http://schemas.microsoft.com/office/drawing/2014/main" id="{093417AE-B98E-0F94-1741-FFC7B0AB6675}"/>
              </a:ext>
            </a:extLst>
          </p:cNvPr>
          <p:cNvSpPr txBox="1"/>
          <p:nvPr/>
        </p:nvSpPr>
        <p:spPr>
          <a:xfrm>
            <a:off x="522390" y="2230017"/>
            <a:ext cx="6232849" cy="1569660"/>
          </a:xfrm>
          <a:prstGeom prst="rect">
            <a:avLst/>
          </a:prstGeom>
          <a:noFill/>
        </p:spPr>
        <p:txBody>
          <a:bodyPr wrap="square" lIns="91440" tIns="45720" rIns="91440" bIns="45720" rtlCol="0" anchor="t">
            <a:spAutoFit/>
          </a:bodyPr>
          <a:lstStyle/>
          <a:p>
            <a:pPr>
              <a:defRPr sz="3600" b="1">
                <a:solidFill>
                  <a:srgbClr val="FFFFFF"/>
                </a:solidFill>
                <a:latin typeface="Arial Black"/>
              </a:defRPr>
            </a:pPr>
            <a:r>
              <a:t>VERXL PROTOCOL</a:t>
            </a:r>
          </a:p>
          <a:p>
            <a:pPr>
              <a:defRPr sz="1800">
                <a:solidFill>
                  <a:srgbClr val="38BDF8"/>
                </a:solidFill>
              </a:defRPr>
            </a:pPr>
            <a:r>
              <a:t>Capital-Light Decentralized AI Inference Clearing Switch</a:t>
            </a:r>
          </a:p>
          <a:p>
            <a:br/>
            <a:pPr>
              <a:defRPr sz="1300">
                <a:solidFill>
                  <a:srgbClr val="94A3B8"/>
                </a:solidFill>
              </a:defRPr>
            </a:pPr>
            <a:r>
              <a:t>Simon Havlík · VŠE Faculty of International Relations</a:t>
            </a:r>
            <a:br/>
            <a:r>
              <a:t>Course: 2SE307 Bitcoin &amp; Blockchain · Instructor: M. Bok</a:t>
            </a:r>
          </a:p>
        </p:txBody>
      </p:sp>
    </p:spTree>
    <p:extLst>
      <p:ext uri="{BB962C8B-B14F-4D97-AF65-F5344CB8AC3E}">
        <p14:creationId xmlns:p14="http://schemas.microsoft.com/office/powerpoint/2010/main" val="743481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F8EEC66D-5705-EFA2-48CD-A20E2076090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extovéPole 3">
            <a:extLst>
              <a:ext uri="{FF2B5EF4-FFF2-40B4-BE49-F238E27FC236}">
                <a16:creationId xmlns:a16="http://schemas.microsoft.com/office/drawing/2014/main" id="{84A6F61D-4F9D-3992-AE32-612997C07620}"/>
              </a:ext>
            </a:extLst>
          </p:cNvPr>
          <p:cNvSpPr txBox="1"/>
          <p:nvPr/>
        </p:nvSpPr>
        <p:spPr>
          <a:xfrm>
            <a:off x="345109" y="1228343"/>
            <a:ext cx="7492606" cy="1754326"/>
          </a:xfrm>
          <a:prstGeom prst="rect">
            <a:avLst/>
          </a:prstGeom>
          <a:noFill/>
        </p:spPr>
        <p:txBody>
          <a:bodyPr wrap="square" lIns="91440" tIns="45720" rIns="91440" bIns="45720" rtlCol="0" anchor="t">
            <a:spAutoFit/>
          </a:bodyPr>
          <a:lstStyle/>
          <a:p>
            <a:r>
              <a:rPr lang="en-US" sz="5400" dirty="0">
                <a:solidFill>
                  <a:schemeClr val="bg1"/>
                </a:solidFill>
                <a:latin typeface="Montserrat ExtraBold"/>
              </a:rPr>
              <a:t>What problem does your project solve?</a:t>
            </a:r>
            <a:endParaRPr lang="en-US" sz="5400" dirty="0">
              <a:solidFill>
                <a:schemeClr val="bg1"/>
              </a:solidFill>
              <a:latin typeface="Montserrat ExtraBold" panose="00000900000000000000" pitchFamily="2" charset="0"/>
            </a:endParaRPr>
          </a:p>
        </p:txBody>
      </p:sp>
    </p:spTree>
    <p:extLst>
      <p:ext uri="{BB962C8B-B14F-4D97-AF65-F5344CB8AC3E}">
        <p14:creationId xmlns:p14="http://schemas.microsoft.com/office/powerpoint/2010/main" val="2281304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ovéPole 3">
            <a:extLst>
              <a:ext uri="{FF2B5EF4-FFF2-40B4-BE49-F238E27FC236}">
                <a16:creationId xmlns:a16="http://schemas.microsoft.com/office/drawing/2014/main" id="{0B31710B-8B9B-0342-73FA-85DF5ACB1FCB}"/>
              </a:ext>
            </a:extLst>
          </p:cNvPr>
          <p:cNvSpPr txBox="1"/>
          <p:nvPr/>
        </p:nvSpPr>
        <p:spPr>
          <a:xfrm>
            <a:off x="345108" y="257960"/>
            <a:ext cx="11495439" cy="369332"/>
          </a:xfrm>
          <a:prstGeom prst="rect">
            <a:avLst/>
          </a:prstGeom>
          <a:noFill/>
        </p:spPr>
        <p:txBody>
          <a:bodyPr wrap="square" rtlCol="0">
            <a:spAutoFit/>
          </a:bodyPr>
          <a:lstStyle/>
          <a:p>
            <a:r>
              <a:rPr lang="en-US">
                <a:solidFill>
                  <a:schemeClr val="tx1">
                    <a:lumMod val="50000"/>
                    <a:lumOff val="50000"/>
                  </a:schemeClr>
                </a:solidFill>
                <a:latin typeface="Montserrat ExtraBold" panose="00000900000000000000" pitchFamily="2" charset="0"/>
              </a:rPr>
              <a:t>What problem does your project solve?</a:t>
            </a:r>
            <a:endParaRPr lang="cs-CZ">
              <a:solidFill>
                <a:schemeClr val="tx1">
                  <a:lumMod val="50000"/>
                  <a:lumOff val="50000"/>
                </a:schemeClr>
              </a:solidFill>
              <a:latin typeface="Montserrat ExtraBold" panose="00000900000000000000" pitchFamily="2" charset="0"/>
            </a:endParaRPr>
          </a:p>
        </p:txBody>
      </p:sp>
      <p:sp>
        <p:nvSpPr>
          <p:cNvPr id="5" name="TextBox 4"/>
          <p:cNvSpPr txBox="1"/>
          <p:nvPr/>
        </p:nvSpPr>
        <p:spPr>
          <a:xfrm>
            <a:off x="548640" y="365760"/>
            <a:ext cx="11064240" cy="731520"/>
          </a:xfrm>
          <a:prstGeom prst="rect">
            <a:avLst/>
          </a:prstGeom>
          <a:noFill/>
        </p:spPr>
        <p:txBody>
          <a:bodyPr wrap="square" lIns="0" tIns="0" rIns="0" bIns="0">
            <a:spAutoFit/>
          </a:bodyPr>
          <a:lstStyle/>
          <a:p>
            <a:pPr>
              <a:defRPr sz="2400" b="1">
                <a:solidFill>
                  <a:srgbClr val="FFFFFF"/>
                </a:solidFill>
                <a:latin typeface="Arial"/>
              </a:defRPr>
            </a:pPr>
            <a:r>
              <a:t>The 80%+ Cloud AI Markup &amp; Fragmented GPU Compute</a:t>
            </a:r>
          </a:p>
          <a:p>
            <a:pPr>
              <a:defRPr sz="1300">
                <a:solidFill>
                  <a:srgbClr val="38BDF8"/>
                </a:solidFill>
                <a:latin typeface="Arial"/>
              </a:defRPr>
            </a:pPr>
            <a:r>
              <a:t>Why centralized AI gateways are rent-seeking tollbooths and how Verxl fixes it</a:t>
            </a:r>
          </a:p>
        </p:txBody>
      </p:sp>
      <p:sp>
        <p:nvSpPr>
          <p:cNvPr id="6" name="Rounded Rectangle 5"/>
          <p:cNvSpPr/>
          <p:nvPr/>
        </p:nvSpPr>
        <p:spPr>
          <a:xfrm>
            <a:off x="548640" y="1463040"/>
            <a:ext cx="3474720" cy="4114800"/>
          </a:xfrm>
          <a:prstGeom prst="roundRect">
            <a:avLst/>
          </a:prstGeom>
          <a:solidFill>
            <a:srgbClr val="0C121E"/>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b="1" sz="1400">
                <a:solidFill>
                  <a:srgbClr val="F87171"/>
                </a:solidFill>
              </a:defRPr>
            </a:pPr>
            <a:r>
              <a:t>🚨 HYPERSCALER MONOPOLY</a:t>
            </a:r>
          </a:p>
          <a:p>
            <a:br/>
            <a:pPr>
              <a:defRPr b="1" sz="1100">
                <a:solidFill>
                  <a:srgbClr val="FFFFFF"/>
                </a:solidFill>
              </a:defRPr>
            </a:pPr>
            <a:r>
              <a:t>• 80–90% Gross Margin Markup</a:t>
            </a:r>
          </a:p>
          <a:p>
            <a:pPr>
              <a:defRPr sz="950">
                <a:solidFill>
                  <a:srgbClr val="94A3B8"/>
                </a:solidFill>
              </a:defRPr>
            </a:pPr>
            <a:r>
              <a:t>Centralized providers (OpenAI, AWS Bedrock) add massive rent-seeking spreads on top of raw GPU compute.</a:t>
            </a:r>
          </a:p>
          <a:p>
            <a:br/>
            <a:pPr>
              <a:defRPr b="1" sz="1100">
                <a:solidFill>
                  <a:srgbClr val="FFFFFF"/>
                </a:solidFill>
              </a:defRPr>
            </a:pPr>
            <a:r>
              <a:t>• Walled Gardens &amp; Vendor Lock-In</a:t>
            </a:r>
          </a:p>
          <a:p>
            <a:pPr>
              <a:defRPr sz="950">
                <a:solidFill>
                  <a:srgbClr val="94A3B8"/>
                </a:solidFill>
              </a:defRPr>
            </a:pPr>
            <a:r>
              <a:t>Strict proprietary SDKs, account suspensions without appeal, and enforced credit card subscriptions.</a:t>
            </a:r>
          </a:p>
          <a:p>
            <a:br/>
            <a:pPr>
              <a:defRPr b="1" sz="1100">
                <a:solidFill>
                  <a:srgbClr val="FFFFFF"/>
                </a:solidFill>
              </a:defRPr>
            </a:pPr>
            <a:r>
              <a:t>• Mandatory KYC &amp; Surveillance</a:t>
            </a:r>
          </a:p>
          <a:p>
            <a:pPr>
              <a:defRPr sz="950">
                <a:solidFill>
                  <a:srgbClr val="94A3B8"/>
                </a:solidFill>
              </a:defRPr>
            </a:pPr>
            <a:r>
              <a:t>Developers must submit passports, corporate registry documents, and phone numbers to run open weights.</a:t>
            </a:r>
          </a:p>
        </p:txBody>
      </p:sp>
      <p:sp>
        <p:nvSpPr>
          <p:cNvPr id="7" name="Rounded Rectangle 6"/>
          <p:cNvSpPr/>
          <p:nvPr/>
        </p:nvSpPr>
        <p:spPr>
          <a:xfrm>
            <a:off x="4206240" y="1463040"/>
            <a:ext cx="3474720" cy="4114800"/>
          </a:xfrm>
          <a:prstGeom prst="roundRect">
            <a:avLst/>
          </a:prstGeom>
          <a:solidFill>
            <a:srgbClr val="0C121E"/>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b="1" sz="1400">
                <a:solidFill>
                  <a:srgbClr val="FBBF24"/>
                </a:solidFill>
              </a:defRPr>
            </a:pPr>
            <a:r>
              <a:t>⚡ IDLE COMPUTE DILEMMA</a:t>
            </a:r>
          </a:p>
          <a:p>
            <a:br/>
            <a:pPr>
              <a:defRPr b="1" sz="1100">
                <a:solidFill>
                  <a:srgbClr val="FFFFFF"/>
                </a:solidFill>
              </a:defRPr>
            </a:pPr>
            <a:r>
              <a:t>• Massive Unmonetized Clusters</a:t>
            </a:r>
          </a:p>
          <a:p>
            <a:pPr>
              <a:defRPr sz="950">
                <a:solidFill>
                  <a:srgbClr val="94A3B8"/>
                </a:solidFill>
              </a:defRPr>
            </a:pPr>
            <a:r>
              <a:t>Regional datacenters and miners sit on thousands of H100s, A100s, and 4090s with zero retail access.</a:t>
            </a:r>
          </a:p>
          <a:p>
            <a:br/>
            <a:pPr>
              <a:defRPr b="1" sz="1100">
                <a:solidFill>
                  <a:srgbClr val="FFFFFF"/>
                </a:solidFill>
              </a:defRPr>
            </a:pPr>
            <a:r>
              <a:t>• Zero Liquidity Routing</a:t>
            </a:r>
          </a:p>
          <a:p>
            <a:pPr>
              <a:defRPr sz="950">
                <a:solidFill>
                  <a:srgbClr val="94A3B8"/>
                </a:solidFill>
              </a:defRPr>
            </a:pPr>
            <a:r>
              <a:t>No permissionless way to aggregate disparate compute nodes into a reliable single API endpoint.</a:t>
            </a:r>
          </a:p>
          <a:p>
            <a:br/>
            <a:pPr>
              <a:defRPr b="1" sz="1100">
                <a:solidFill>
                  <a:srgbClr val="FFFFFF"/>
                </a:solidFill>
              </a:defRPr>
            </a:pPr>
            <a:r>
              <a:t>• Payment Delay Friction</a:t>
            </a:r>
          </a:p>
          <a:p>
            <a:pPr>
              <a:defRPr sz="950">
                <a:solidFill>
                  <a:srgbClr val="94A3B8"/>
                </a:solidFill>
              </a:defRPr>
            </a:pPr>
            <a:r>
              <a:t>Hardware operators wait 30–60 days for fiat invoice clearing and lose 3% to traditional banking rails.</a:t>
            </a:r>
          </a:p>
        </p:txBody>
      </p:sp>
      <p:sp>
        <p:nvSpPr>
          <p:cNvPr id="8" name="Rounded Rectangle 7"/>
          <p:cNvSpPr/>
          <p:nvPr/>
        </p:nvSpPr>
        <p:spPr>
          <a:xfrm>
            <a:off x="7863840" y="1463040"/>
            <a:ext cx="3474720" cy="4114800"/>
          </a:xfrm>
          <a:prstGeom prst="roundRect">
            <a:avLst/>
          </a:prstGeom>
          <a:solidFill>
            <a:srgbClr val="0C121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b="1" sz="1400">
                <a:solidFill>
                  <a:srgbClr val="34D399"/>
                </a:solidFill>
              </a:defRPr>
            </a:pPr>
            <a:r>
              <a:t>💎 THE VERXL SWITCH</a:t>
            </a:r>
          </a:p>
          <a:p>
            <a:br/>
            <a:pPr>
              <a:defRPr b="1" sz="1100">
                <a:solidFill>
                  <a:srgbClr val="FFFFFF"/>
                </a:solidFill>
              </a:defRPr>
            </a:pPr>
            <a:r>
              <a:t>• 50 bps Transparent Clearing</a:t>
            </a:r>
          </a:p>
          <a:p>
            <a:pPr>
              <a:defRPr sz="950">
                <a:solidFill>
                  <a:srgbClr val="94A3B8"/>
                </a:solidFill>
              </a:defRPr>
            </a:pPr>
            <a:r>
              <a:t>Non-custodial edge router charges only 0.5% protocol spread — saving developers over 94% on fees.</a:t>
            </a:r>
          </a:p>
          <a:p>
            <a:br/>
            <a:pPr>
              <a:defRPr b="1" sz="1100">
                <a:solidFill>
                  <a:srgbClr val="FFFFFF"/>
                </a:solidFill>
              </a:defRPr>
            </a:pPr>
            <a:r>
              <a:t>• Drop-in OpenAI Compatibility</a:t>
            </a:r>
          </a:p>
          <a:p>
            <a:pPr>
              <a:defRPr sz="950">
                <a:solidFill>
                  <a:srgbClr val="94A3B8"/>
                </a:solidFill>
              </a:defRPr>
            </a:pPr>
            <a:r>
              <a:t>Standard endpoint (`api.verxl.com/v1`). Any existing AI codebase runs with zero code changes.</a:t>
            </a:r>
          </a:p>
          <a:p>
            <a:br/>
            <a:pPr>
              <a:defRPr b="1" sz="1100">
                <a:solidFill>
                  <a:srgbClr val="FFFFFF"/>
                </a:solidFill>
              </a:defRPr>
            </a:pPr>
            <a:r>
              <a:t>• Instant L2 Settlement</a:t>
            </a:r>
          </a:p>
          <a:p>
            <a:pPr>
              <a:defRPr sz="950">
                <a:solidFill>
                  <a:srgbClr val="94A3B8"/>
                </a:solidFill>
              </a:defRPr>
            </a:pPr>
            <a:r>
              <a:t>Arbitrum L2 micro-settlements (&lt;$0.01 gas fee) allow compute nodes to withdraw earnings in seconds.</a:t>
            </a:r>
          </a:p>
        </p:txBody>
      </p:sp>
    </p:spTree>
    <p:extLst>
      <p:ext uri="{BB962C8B-B14F-4D97-AF65-F5344CB8AC3E}">
        <p14:creationId xmlns:p14="http://schemas.microsoft.com/office/powerpoint/2010/main" val="75323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F8EEC66D-5705-EFA2-48CD-A20E2076090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extovéPole 3">
            <a:extLst>
              <a:ext uri="{FF2B5EF4-FFF2-40B4-BE49-F238E27FC236}">
                <a16:creationId xmlns:a16="http://schemas.microsoft.com/office/drawing/2014/main" id="{84A6F61D-4F9D-3992-AE32-612997C07620}"/>
              </a:ext>
            </a:extLst>
          </p:cNvPr>
          <p:cNvSpPr txBox="1"/>
          <p:nvPr/>
        </p:nvSpPr>
        <p:spPr>
          <a:xfrm>
            <a:off x="345109" y="1228343"/>
            <a:ext cx="7492606" cy="1754326"/>
          </a:xfrm>
          <a:prstGeom prst="rect">
            <a:avLst/>
          </a:prstGeom>
          <a:noFill/>
        </p:spPr>
        <p:txBody>
          <a:bodyPr wrap="square" rtlCol="0">
            <a:spAutoFit/>
          </a:bodyPr>
          <a:lstStyle/>
          <a:p>
            <a:r>
              <a:rPr lang="en-US" sz="5400">
                <a:solidFill>
                  <a:schemeClr val="bg1"/>
                </a:solidFill>
                <a:latin typeface="Montserrat ExtraBold" panose="00000900000000000000" pitchFamily="2" charset="0"/>
              </a:rPr>
              <a:t>Who is the target audience?</a:t>
            </a:r>
            <a:endParaRPr lang="cs-CZ" sz="5400">
              <a:solidFill>
                <a:schemeClr val="bg1"/>
              </a:solidFill>
              <a:latin typeface="Montserrat ExtraBold" panose="00000900000000000000" pitchFamily="2" charset="0"/>
            </a:endParaRPr>
          </a:p>
        </p:txBody>
      </p:sp>
    </p:spTree>
    <p:extLst>
      <p:ext uri="{BB962C8B-B14F-4D97-AF65-F5344CB8AC3E}">
        <p14:creationId xmlns:p14="http://schemas.microsoft.com/office/powerpoint/2010/main" val="1328319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ovéPole 3">
            <a:extLst>
              <a:ext uri="{FF2B5EF4-FFF2-40B4-BE49-F238E27FC236}">
                <a16:creationId xmlns:a16="http://schemas.microsoft.com/office/drawing/2014/main" id="{0B31710B-8B9B-0342-73FA-85DF5ACB1FCB}"/>
              </a:ext>
            </a:extLst>
          </p:cNvPr>
          <p:cNvSpPr txBox="1"/>
          <p:nvPr/>
        </p:nvSpPr>
        <p:spPr>
          <a:xfrm>
            <a:off x="345108" y="257960"/>
            <a:ext cx="11495439" cy="369332"/>
          </a:xfrm>
          <a:prstGeom prst="rect">
            <a:avLst/>
          </a:prstGeom>
          <a:noFill/>
        </p:spPr>
        <p:txBody>
          <a:bodyPr wrap="square" rtlCol="0">
            <a:spAutoFit/>
          </a:bodyPr>
          <a:lstStyle/>
          <a:p>
            <a:r>
              <a:rPr lang="en-US">
                <a:solidFill>
                  <a:schemeClr val="tx1">
                    <a:lumMod val="50000"/>
                    <a:lumOff val="50000"/>
                  </a:schemeClr>
                </a:solidFill>
                <a:latin typeface="Montserrat ExtraBold" panose="00000900000000000000" pitchFamily="2" charset="0"/>
              </a:rPr>
              <a:t>Who is the target audience?</a:t>
            </a:r>
            <a:endParaRPr lang="cs-CZ">
              <a:solidFill>
                <a:schemeClr val="tx1">
                  <a:lumMod val="50000"/>
                  <a:lumOff val="50000"/>
                </a:schemeClr>
              </a:solidFill>
              <a:latin typeface="Montserrat ExtraBold" panose="00000900000000000000" pitchFamily="2" charset="0"/>
            </a:endParaRPr>
          </a:p>
        </p:txBody>
      </p:sp>
      <p:sp>
        <p:nvSpPr>
          <p:cNvPr id="5" name="TextBox 4"/>
          <p:cNvSpPr txBox="1"/>
          <p:nvPr/>
        </p:nvSpPr>
        <p:spPr>
          <a:xfrm>
            <a:off x="548640" y="365760"/>
            <a:ext cx="11064240" cy="731520"/>
          </a:xfrm>
          <a:prstGeom prst="rect">
            <a:avLst/>
          </a:prstGeom>
          <a:noFill/>
        </p:spPr>
        <p:txBody>
          <a:bodyPr wrap="square" lIns="0" tIns="0" rIns="0" bIns="0">
            <a:spAutoFit/>
          </a:bodyPr>
          <a:lstStyle/>
          <a:p>
            <a:pPr>
              <a:defRPr sz="2400" b="1">
                <a:solidFill>
                  <a:srgbClr val="FFFFFF"/>
                </a:solidFill>
                <a:latin typeface="Arial"/>
              </a:defRPr>
            </a:pPr>
            <a:r>
              <a:t>Target Audience: The Crypto-Native Adoption Triad</a:t>
            </a:r>
          </a:p>
          <a:p>
            <a:pPr>
              <a:defRPr sz="1300">
                <a:solidFill>
                  <a:srgbClr val="38BDF8"/>
                </a:solidFill>
                <a:latin typeface="Arial"/>
              </a:defRPr>
            </a:pPr>
            <a:r>
              <a:t>Why crypto developers are the ideal, low-CAC customer acquisition engine</a:t>
            </a:r>
          </a:p>
        </p:txBody>
      </p:sp>
      <p:sp>
        <p:nvSpPr>
          <p:cNvPr id="6" name="Rounded Rectangle 5"/>
          <p:cNvSpPr/>
          <p:nvPr/>
        </p:nvSpPr>
        <p:spPr>
          <a:xfrm>
            <a:off x="548640" y="1371600"/>
            <a:ext cx="10789920" cy="1234440"/>
          </a:xfrm>
          <a:prstGeom prst="roundRect">
            <a:avLst/>
          </a:prstGeom>
          <a:solidFill>
            <a:srgbClr val="0C121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200">
                <a:solidFill>
                  <a:srgbClr val="38BDF8"/>
                </a:solidFill>
              </a:defRPr>
            </a:pPr>
            <a:r>
              <a:t>1. TECH-SAVVY &amp; API-FIRST DEVELOPERS</a:t>
            </a:r>
          </a:p>
          <a:p>
            <a:pPr>
              <a:defRPr sz="1000">
                <a:solidFill>
                  <a:srgbClr val="FFFFFF"/>
                </a:solidFill>
              </a:defRPr>
            </a:pPr>
            <a:r>
              <a:t>Autonomous Agent Builders &amp; Algorithmic Quants — Developers who build AI trading bots, autonomous assistants (OMP, Hermes), and automated pipelines. They demand raw speed, curl/TypeScript compatibility, and zero UI bloat.</a:t>
            </a:r>
          </a:p>
        </p:txBody>
      </p:sp>
      <p:sp>
        <p:nvSpPr>
          <p:cNvPr id="7" name="Rounded Rectangle 6"/>
          <p:cNvSpPr/>
          <p:nvPr/>
        </p:nvSpPr>
        <p:spPr>
          <a:xfrm>
            <a:off x="548640" y="2743200"/>
            <a:ext cx="10789920" cy="1234440"/>
          </a:xfrm>
          <a:prstGeom prst="roundRect">
            <a:avLst/>
          </a:prstGeom>
          <a:solidFill>
            <a:srgbClr val="0C121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200">
                <a:solidFill>
                  <a:srgbClr val="34D399"/>
                </a:solidFill>
              </a:defRPr>
            </a:pPr>
            <a:r>
              <a:t>2. PRIVACY MAXIMALISTS &amp; ENTERPRISE COMPLIANCE</a:t>
            </a:r>
          </a:p>
          <a:p>
            <a:pPr>
              <a:defRPr sz="1000">
                <a:solidFill>
                  <a:srgbClr val="FFFFFF"/>
                </a:solidFill>
              </a:defRPr>
            </a:pPr>
            <a:r>
              <a:t>Confidential Compute &amp; Freedom of Speech — Users running proprietary financial algorithms or private data who cannot allow OpenAI to train on their prompts. Verxl offers stateless edge execution with zero prompt retention.</a:t>
            </a:r>
          </a:p>
        </p:txBody>
      </p:sp>
      <p:sp>
        <p:nvSpPr>
          <p:cNvPr id="8" name="Rounded Rectangle 7"/>
          <p:cNvSpPr/>
          <p:nvPr/>
        </p:nvSpPr>
        <p:spPr>
          <a:xfrm>
            <a:off x="548640" y="4114800"/>
            <a:ext cx="10789920" cy="1234440"/>
          </a:xfrm>
          <a:prstGeom prst="roundRect">
            <a:avLst/>
          </a:prstGeom>
          <a:solidFill>
            <a:srgbClr val="0C121E"/>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200">
                <a:solidFill>
                  <a:srgbClr val="C084FC"/>
                </a:solidFill>
              </a:defRPr>
            </a:pPr>
            <a:r>
              <a:t>3. ON-CHAIN IDENTIFIABLE COMMUNITY &amp; VIRAL CAMPAIGNS</a:t>
            </a:r>
          </a:p>
          <a:p>
            <a:pPr>
              <a:defRPr sz="1000">
                <a:solidFill>
                  <a:srgbClr val="FFFFFF"/>
                </a:solidFill>
              </a:defRPr>
            </a:pPr>
            <a:r>
              <a:t>Low CAC Customer Engine &amp; Token Alignment — Crypto-natives actively seek permissionless protocols. Transparent on-chain volume creates viral engagement, staking rewards, and verifiable protocol metrics with near-zero CAC.</a:t>
            </a:r>
          </a:p>
        </p:txBody>
      </p:sp>
      <p:sp>
        <p:nvSpPr>
          <p:cNvPr id="9" name="Rectangle 8"/>
          <p:cNvSpPr/>
          <p:nvPr/>
        </p:nvSpPr>
        <p:spPr>
          <a:xfrm>
            <a:off x="548640" y="5257800"/>
            <a:ext cx="10789920" cy="777240"/>
          </a:xfrm>
          <a:prstGeom prst="rect">
            <a:avLst/>
          </a:prstGeom>
          <a:solidFill>
            <a:srgbClr val="121E30"/>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rIns="109728" bIns="109728"/>
          <a:lstStyle/>
          <a:p>
            <a:pPr algn="ctr">
              <a:defRPr b="1" sz="1050">
                <a:solidFill>
                  <a:srgbClr val="FBBF24"/>
                </a:solidFill>
              </a:defRPr>
            </a:pPr>
            <a:r>
              <a:t>💰 FINANCIAL METRIC: CAPITAL-LIGHT GO-TO-MARKET FLYWHEEL</a:t>
            </a:r>
          </a:p>
          <a:p>
            <a:pPr>
              <a:defRPr sz="900">
                <a:solidFill>
                  <a:srgbClr val="94A3B8"/>
                </a:solidFill>
              </a:defRPr>
            </a:pPr>
            <a:r>
              <a:t>Traditional SaaS companies burn $100+ per customer on Google Ads. Verxl leverages on-chain incentive mechanics: L2 liquidity mining and verifiable volume campaigns produce an effective CAC near $0 while compounding Lifetime Value (LTV) on every inference call.</a:t>
            </a:r>
          </a:p>
        </p:txBody>
      </p:sp>
    </p:spTree>
    <p:extLst>
      <p:ext uri="{BB962C8B-B14F-4D97-AF65-F5344CB8AC3E}">
        <p14:creationId xmlns:p14="http://schemas.microsoft.com/office/powerpoint/2010/main" val="3875913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F8EEC66D-5705-EFA2-48CD-A20E207609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ovéPole 3">
            <a:extLst>
              <a:ext uri="{FF2B5EF4-FFF2-40B4-BE49-F238E27FC236}">
                <a16:creationId xmlns:a16="http://schemas.microsoft.com/office/drawing/2014/main" id="{84A6F61D-4F9D-3992-AE32-612997C07620}"/>
              </a:ext>
            </a:extLst>
          </p:cNvPr>
          <p:cNvSpPr txBox="1"/>
          <p:nvPr/>
        </p:nvSpPr>
        <p:spPr>
          <a:xfrm>
            <a:off x="345109" y="1228343"/>
            <a:ext cx="7492606" cy="1754326"/>
          </a:xfrm>
          <a:prstGeom prst="rect">
            <a:avLst/>
          </a:prstGeom>
          <a:noFill/>
        </p:spPr>
        <p:txBody>
          <a:bodyPr wrap="square" rtlCol="0">
            <a:spAutoFit/>
          </a:bodyPr>
          <a:lstStyle/>
          <a:p>
            <a:r>
              <a:rPr lang="en-US" sz="5400">
                <a:solidFill>
                  <a:schemeClr val="bg1"/>
                </a:solidFill>
                <a:latin typeface="Montserrat ExtraBold" panose="00000900000000000000" pitchFamily="2" charset="0"/>
              </a:rPr>
              <a:t>What is your role in the project?</a:t>
            </a:r>
            <a:endParaRPr lang="cs-CZ" sz="5400">
              <a:solidFill>
                <a:schemeClr val="bg1"/>
              </a:solidFill>
              <a:latin typeface="Montserrat ExtraBold" panose="00000900000000000000" pitchFamily="2" charset="0"/>
            </a:endParaRPr>
          </a:p>
        </p:txBody>
      </p:sp>
    </p:spTree>
    <p:extLst>
      <p:ext uri="{BB962C8B-B14F-4D97-AF65-F5344CB8AC3E}">
        <p14:creationId xmlns:p14="http://schemas.microsoft.com/office/powerpoint/2010/main" val="2385741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ovéPole 3">
            <a:extLst>
              <a:ext uri="{FF2B5EF4-FFF2-40B4-BE49-F238E27FC236}">
                <a16:creationId xmlns:a16="http://schemas.microsoft.com/office/drawing/2014/main" id="{0B31710B-8B9B-0342-73FA-85DF5ACB1FCB}"/>
              </a:ext>
            </a:extLst>
          </p:cNvPr>
          <p:cNvSpPr txBox="1"/>
          <p:nvPr/>
        </p:nvSpPr>
        <p:spPr>
          <a:xfrm>
            <a:off x="345108" y="257960"/>
            <a:ext cx="11495439" cy="369332"/>
          </a:xfrm>
          <a:prstGeom prst="rect">
            <a:avLst/>
          </a:prstGeom>
          <a:noFill/>
        </p:spPr>
        <p:txBody>
          <a:bodyPr wrap="square" rtlCol="0">
            <a:spAutoFit/>
          </a:bodyPr>
          <a:lstStyle/>
          <a:p>
            <a:r>
              <a:rPr lang="en-US">
                <a:solidFill>
                  <a:schemeClr val="tx1">
                    <a:lumMod val="50000"/>
                    <a:lumOff val="50000"/>
                  </a:schemeClr>
                </a:solidFill>
                <a:latin typeface="Montserrat ExtraBold" panose="00000900000000000000" pitchFamily="2" charset="0"/>
              </a:rPr>
              <a:t>What is your role in the project?</a:t>
            </a:r>
            <a:endParaRPr lang="cs-CZ">
              <a:solidFill>
                <a:schemeClr val="tx1">
                  <a:lumMod val="50000"/>
                  <a:lumOff val="50000"/>
                </a:schemeClr>
              </a:solidFill>
              <a:latin typeface="Montserrat ExtraBold" panose="00000900000000000000" pitchFamily="2" charset="0"/>
            </a:endParaRPr>
          </a:p>
        </p:txBody>
      </p:sp>
      <p:sp>
        <p:nvSpPr>
          <p:cNvPr id="5" name="TextBox 4"/>
          <p:cNvSpPr txBox="1"/>
          <p:nvPr/>
        </p:nvSpPr>
        <p:spPr>
          <a:xfrm>
            <a:off x="548640" y="365760"/>
            <a:ext cx="11064240" cy="731520"/>
          </a:xfrm>
          <a:prstGeom prst="rect">
            <a:avLst/>
          </a:prstGeom>
          <a:noFill/>
        </p:spPr>
        <p:txBody>
          <a:bodyPr wrap="square" lIns="0" tIns="0" rIns="0" bIns="0">
            <a:spAutoFit/>
          </a:bodyPr>
          <a:lstStyle/>
          <a:p>
            <a:pPr>
              <a:defRPr sz="2400" b="1">
                <a:solidFill>
                  <a:srgbClr val="FFFFFF"/>
                </a:solidFill>
                <a:latin typeface="Arial"/>
              </a:defRPr>
            </a:pPr>
            <a:r>
              <a:t>What is My Role in the Project?</a:t>
            </a:r>
          </a:p>
          <a:p>
            <a:pPr>
              <a:defRPr sz="1300">
                <a:solidFill>
                  <a:srgbClr val="38BDF8"/>
                </a:solidFill>
                <a:latin typeface="Arial"/>
              </a:defRPr>
            </a:pPr>
            <a:r>
              <a:t>Founder, Lead Quantitative Systems Designer &amp; Full-Stack Protocol Engineer</a:t>
            </a:r>
          </a:p>
        </p:txBody>
      </p:sp>
      <p:sp>
        <p:nvSpPr>
          <p:cNvPr id="6" name="Rounded Rectangle 5"/>
          <p:cNvSpPr/>
          <p:nvPr/>
        </p:nvSpPr>
        <p:spPr>
          <a:xfrm>
            <a:off x="548640" y="1371600"/>
            <a:ext cx="5257800" cy="2148840"/>
          </a:xfrm>
          <a:prstGeom prst="roundRect">
            <a:avLst/>
          </a:prstGeom>
          <a:solidFill>
            <a:srgbClr val="0C121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38BDF8"/>
                </a:solidFill>
              </a:defRPr>
            </a:pPr>
            <a:r>
              <a:t>1. SMART CONTRACT &amp; DAO GOVERNANCE ARCHITECTURE</a:t>
            </a:r>
          </a:p>
          <a:p>
            <a:pPr>
              <a:defRPr sz="850">
                <a:solidFill>
                  <a:srgbClr val="FFFFFF"/>
                </a:solidFill>
              </a:defRPr>
            </a:pPr>
            <a:r>
              <a:t>• Aragon OSx On-Chain DAO: Engineered and deployed modular DAO governance contracts on Ethereum Sepolia and Arbitrum One.</a:t>
            </a:r>
          </a:p>
          <a:p>
            <a:pPr>
              <a:defRPr sz="850">
                <a:solidFill>
                  <a:srgbClr val="FFFFFF"/>
                </a:solidFill>
              </a:defRPr>
            </a:pPr>
            <a:r>
              <a:t>• Tokenomics &amp; Staking Vault: Designed $VRXL genesis distribution, provider slashing mechanisms (10% slashed on SLA failure), and unbonding cooldowns.</a:t>
            </a:r>
          </a:p>
          <a:p>
            <a:pPr>
              <a:defRPr sz="850">
                <a:solidFill>
                  <a:srgbClr val="FFFFFF"/>
                </a:solidFill>
              </a:defRPr>
            </a:pPr>
            <a:r>
              <a:t>• Non-Custodial Escrow: Direct smart-contract deposits ensuring protocol operators never hold user private keys or pooled funds.</a:t>
            </a:r>
          </a:p>
        </p:txBody>
      </p:sp>
      <p:sp>
        <p:nvSpPr>
          <p:cNvPr id="7" name="Rounded Rectangle 6"/>
          <p:cNvSpPr/>
          <p:nvPr/>
        </p:nvSpPr>
        <p:spPr>
          <a:xfrm>
            <a:off x="6080760" y="1371600"/>
            <a:ext cx="5257800" cy="2148840"/>
          </a:xfrm>
          <a:prstGeom prst="roundRect">
            <a:avLst/>
          </a:prstGeom>
          <a:solidFill>
            <a:srgbClr val="0C121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34D399"/>
                </a:solidFill>
              </a:defRPr>
            </a:pPr>
            <a:r>
              <a:t>2. STATELESS EDGE CLEARING SWITCH &amp; ROUTER</a:t>
            </a:r>
          </a:p>
          <a:p>
            <a:pPr>
              <a:defRPr sz="850">
                <a:solidFill>
                  <a:srgbClr val="FFFFFF"/>
                </a:solidFill>
              </a:defRPr>
            </a:pPr>
            <a:r>
              <a:t>• Sub-4ms Edge Routing: Engineered Cloudflare Pages Functions / edge workers that dynamically inspect tokens and route to lowest-latency nodes.</a:t>
            </a:r>
          </a:p>
          <a:p>
            <a:pPr>
              <a:defRPr sz="850">
                <a:solidFill>
                  <a:srgbClr val="FFFFFF"/>
                </a:solidFill>
              </a:defRPr>
            </a:pPr>
            <a:r>
              <a:t>• Seed=42 Canary SLA Probing: Built autonomous quality audits: deterministic canary probes verify output integrity in under 200ms.</a:t>
            </a:r>
          </a:p>
          <a:p>
            <a:pPr>
              <a:defRPr sz="850">
                <a:solidFill>
                  <a:srgbClr val="FFFFFF"/>
                </a:solidFill>
              </a:defRPr>
            </a:pPr>
            <a:r>
              <a:t>• Multi-Provider Fallback: Automated failover between bare-metal clusters and distributed API bridges with zero client interruption.</a:t>
            </a:r>
          </a:p>
        </p:txBody>
      </p:sp>
      <p:sp>
        <p:nvSpPr>
          <p:cNvPr id="8" name="Rounded Rectangle 7"/>
          <p:cNvSpPr/>
          <p:nvPr/>
        </p:nvSpPr>
        <p:spPr>
          <a:xfrm>
            <a:off x="548640" y="3657600"/>
            <a:ext cx="5257800" cy="2148840"/>
          </a:xfrm>
          <a:prstGeom prst="roundRect">
            <a:avLst/>
          </a:prstGeom>
          <a:solidFill>
            <a:srgbClr val="0C121E"/>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FBBF24"/>
                </a:solidFill>
              </a:defRPr>
            </a:pPr>
            <a:r>
              <a:t>3. FINANCIAL DATABASE &amp; CRYPTOGRAPHIC SECURITY</a:t>
            </a:r>
          </a:p>
          <a:p>
            <a:pPr>
              <a:defRPr sz="850">
                <a:solidFill>
                  <a:srgbClr val="FFFFFF"/>
                </a:solidFill>
              </a:defRPr>
            </a:pPr>
            <a:r>
              <a:t>• Charizard PostgreSQL Ledger: Designed strict schema-isolated ledger (`verxl.*`) with zero collision risk against production databases.</a:t>
            </a:r>
          </a:p>
          <a:p>
            <a:pPr>
              <a:defRPr sz="850">
                <a:solidFill>
                  <a:srgbClr val="FFFFFF"/>
                </a:solidFill>
              </a:defRPr>
            </a:pPr>
            <a:r>
              <a:t>• RFC 6238 TOTP 2FA Infrastructure: Implemented PBKDF2 password hashing (100k rounds), pure WebCrypto TOTP validation, and 8 one-time recovery codes.</a:t>
            </a:r>
          </a:p>
          <a:p>
            <a:pPr>
              <a:defRPr sz="850">
                <a:solidFill>
                  <a:srgbClr val="FFFFFF"/>
                </a:solidFill>
              </a:defRPr>
            </a:pPr>
            <a:r>
              <a:t>• Real-Time Clearing Engine: Automated 50 bps fee calculation and microsecond balance verification preventing overdrafts.</a:t>
            </a:r>
          </a:p>
        </p:txBody>
      </p:sp>
      <p:sp>
        <p:nvSpPr>
          <p:cNvPr id="9" name="Rounded Rectangle 8"/>
          <p:cNvSpPr/>
          <p:nvPr/>
        </p:nvSpPr>
        <p:spPr>
          <a:xfrm>
            <a:off x="6080760" y="3657600"/>
            <a:ext cx="5257800" cy="2148840"/>
          </a:xfrm>
          <a:prstGeom prst="roundRect">
            <a:avLst/>
          </a:prstGeom>
          <a:solidFill>
            <a:srgbClr val="0C121E"/>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C084FC"/>
                </a:solidFill>
              </a:defRPr>
            </a:pPr>
            <a:r>
              <a:t>4. HARDWARE NODE CLUSTER INTEGRATION &amp; BENCHMARKS</a:t>
            </a:r>
          </a:p>
          <a:p>
            <a:pPr>
              <a:defRPr sz="850">
                <a:solidFill>
                  <a:srgbClr val="FFFFFF"/>
                </a:solidFill>
              </a:defRPr>
            </a:pPr>
            <a:r>
              <a:t>• Prague Bare-Metal GPU Host: Configured `bulbasaur-prague-01` running Vulkan-accelerated local Qwen models with zero-overhead tunnels.</a:t>
            </a:r>
          </a:p>
          <a:p>
            <a:pPr>
              <a:defRPr sz="850">
                <a:solidFill>
                  <a:srgbClr val="FFFFFF"/>
                </a:solidFill>
              </a:defRPr>
            </a:pPr>
            <a:r>
              <a:t>• Diglett Server Orchestration: Configured Honcho persistent AI memory and OMP autonomous agents syncing keys from Charizard in real-time.</a:t>
            </a:r>
          </a:p>
          <a:p>
            <a:pPr>
              <a:defRPr sz="850">
                <a:solidFill>
                  <a:srgbClr val="FFFFFF"/>
                </a:solidFill>
              </a:defRPr>
            </a:pPr>
            <a:r>
              <a:t>• Live Production Testing: Conducted continuous stress testing across local, VPS, and cloud nodes to guarantee 99.99% uptime.</a:t>
            </a:r>
          </a:p>
        </p:txBody>
      </p:sp>
    </p:spTree>
    <p:extLst>
      <p:ext uri="{BB962C8B-B14F-4D97-AF65-F5344CB8AC3E}">
        <p14:creationId xmlns:p14="http://schemas.microsoft.com/office/powerpoint/2010/main" val="1962404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F8EEC66D-5705-EFA2-48CD-A20E2076090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extovéPole 3">
            <a:extLst>
              <a:ext uri="{FF2B5EF4-FFF2-40B4-BE49-F238E27FC236}">
                <a16:creationId xmlns:a16="http://schemas.microsoft.com/office/drawing/2014/main" id="{84A6F61D-4F9D-3992-AE32-612997C07620}"/>
              </a:ext>
            </a:extLst>
          </p:cNvPr>
          <p:cNvSpPr txBox="1"/>
          <p:nvPr/>
        </p:nvSpPr>
        <p:spPr>
          <a:xfrm>
            <a:off x="345109" y="1228343"/>
            <a:ext cx="7492606" cy="1754326"/>
          </a:xfrm>
          <a:prstGeom prst="rect">
            <a:avLst/>
          </a:prstGeom>
          <a:noFill/>
        </p:spPr>
        <p:txBody>
          <a:bodyPr wrap="square" rtlCol="0">
            <a:spAutoFit/>
          </a:bodyPr>
          <a:lstStyle/>
          <a:p>
            <a:r>
              <a:rPr lang="en-US" sz="5400">
                <a:solidFill>
                  <a:schemeClr val="bg1"/>
                </a:solidFill>
                <a:latin typeface="Montserrat ExtraBold" panose="00000900000000000000" pitchFamily="2" charset="0"/>
              </a:rPr>
              <a:t>What is the goal of the project?</a:t>
            </a:r>
            <a:endParaRPr lang="cs-CZ" sz="5400">
              <a:solidFill>
                <a:schemeClr val="bg1"/>
              </a:solidFill>
              <a:latin typeface="Montserrat ExtraBold" panose="00000900000000000000" pitchFamily="2" charset="0"/>
            </a:endParaRPr>
          </a:p>
        </p:txBody>
      </p:sp>
    </p:spTree>
    <p:extLst>
      <p:ext uri="{BB962C8B-B14F-4D97-AF65-F5344CB8AC3E}">
        <p14:creationId xmlns:p14="http://schemas.microsoft.com/office/powerpoint/2010/main" val="3860341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ovéPole 3">
            <a:extLst>
              <a:ext uri="{FF2B5EF4-FFF2-40B4-BE49-F238E27FC236}">
                <a16:creationId xmlns:a16="http://schemas.microsoft.com/office/drawing/2014/main" id="{0B31710B-8B9B-0342-73FA-85DF5ACB1FCB}"/>
              </a:ext>
            </a:extLst>
          </p:cNvPr>
          <p:cNvSpPr txBox="1"/>
          <p:nvPr/>
        </p:nvSpPr>
        <p:spPr>
          <a:xfrm>
            <a:off x="345108" y="257960"/>
            <a:ext cx="11495439" cy="369332"/>
          </a:xfrm>
          <a:prstGeom prst="rect">
            <a:avLst/>
          </a:prstGeom>
          <a:noFill/>
        </p:spPr>
        <p:txBody>
          <a:bodyPr wrap="square" rtlCol="0">
            <a:spAutoFit/>
          </a:bodyPr>
          <a:lstStyle/>
          <a:p>
            <a:r>
              <a:rPr lang="en-US">
                <a:solidFill>
                  <a:schemeClr val="tx1">
                    <a:lumMod val="50000"/>
                    <a:lumOff val="50000"/>
                  </a:schemeClr>
                </a:solidFill>
                <a:latin typeface="Montserrat ExtraBold" panose="00000900000000000000" pitchFamily="2" charset="0"/>
              </a:rPr>
              <a:t>What is the goal of the project?</a:t>
            </a:r>
            <a:endParaRPr lang="cs-CZ">
              <a:solidFill>
                <a:schemeClr val="tx1">
                  <a:lumMod val="50000"/>
                  <a:lumOff val="50000"/>
                </a:schemeClr>
              </a:solidFill>
              <a:latin typeface="Montserrat ExtraBold" panose="00000900000000000000" pitchFamily="2" charset="0"/>
            </a:endParaRPr>
          </a:p>
        </p:txBody>
      </p:sp>
      <p:sp>
        <p:nvSpPr>
          <p:cNvPr id="5" name="TextBox 4"/>
          <p:cNvSpPr txBox="1"/>
          <p:nvPr/>
        </p:nvSpPr>
        <p:spPr>
          <a:xfrm>
            <a:off x="548640" y="365760"/>
            <a:ext cx="11064240" cy="731520"/>
          </a:xfrm>
          <a:prstGeom prst="rect">
            <a:avLst/>
          </a:prstGeom>
          <a:noFill/>
        </p:spPr>
        <p:txBody>
          <a:bodyPr wrap="square" lIns="0" tIns="0" rIns="0" bIns="0">
            <a:spAutoFit/>
          </a:bodyPr>
          <a:lstStyle/>
          <a:p>
            <a:pPr>
              <a:defRPr sz="2400" b="1">
                <a:solidFill>
                  <a:srgbClr val="FFFFFF"/>
                </a:solidFill>
                <a:latin typeface="Arial"/>
              </a:defRPr>
            </a:pPr>
            <a:r>
              <a:t>Protocol Goal: Capital-Light Marketplace Economics</a:t>
            </a:r>
          </a:p>
          <a:p>
            <a:pPr>
              <a:defRPr sz="1300">
                <a:solidFill>
                  <a:srgbClr val="38BDF8"/>
                </a:solidFill>
                <a:latin typeface="Arial"/>
              </a:defRPr>
            </a:pPr>
            <a:r>
              <a:t>Zero hardware CapEx, 50 bps clearing take rate, and compounding financial velocity</a:t>
            </a:r>
          </a:p>
        </p:txBody>
      </p:sp>
      <p:sp>
        <p:nvSpPr>
          <p:cNvPr id="6" name="Rectangle 5"/>
          <p:cNvSpPr/>
          <p:nvPr/>
        </p:nvSpPr>
        <p:spPr>
          <a:xfrm>
            <a:off x="548640" y="1371600"/>
            <a:ext cx="10789920" cy="91440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200">
                <a:solidFill>
                  <a:srgbClr val="38BDF8"/>
                </a:solidFill>
              </a:defRPr>
            </a:pPr>
            <a:r>
              <a:t>CORE OBJECTIVE: BECOME THE DECENTRALIZED CLEARINGHOUSE FOR GLOBAL AI</a:t>
            </a:r>
          </a:p>
          <a:p>
            <a:pPr>
              <a:defRPr sz="950">
                <a:solidFill>
                  <a:srgbClr val="FFFFFF"/>
                </a:solidFill>
              </a:defRPr>
            </a:pPr>
            <a:r>
              <a:t>Visa does not own retail stores; NASDAQ does not own stocks; Airbnb does not build hotels. Verxl never buys GPUs or signs datacenter leases. We are a pure financial clearing layer connecting high-volume AI consumers with distributed GPU compute clusters.</a:t>
            </a:r>
          </a:p>
        </p:txBody>
      </p:sp>
      <p:sp>
        <p:nvSpPr>
          <p:cNvPr id="7" name="Rounded Rectangle 6"/>
          <p:cNvSpPr/>
          <p:nvPr/>
        </p:nvSpPr>
        <p:spPr>
          <a:xfrm>
            <a:off x="548640" y="2468880"/>
            <a:ext cx="3474720" cy="3291840"/>
          </a:xfrm>
          <a:prstGeom prst="roundRect">
            <a:avLst/>
          </a:prstGeom>
          <a:solidFill>
            <a:srgbClr val="0C121E"/>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b="1" sz="1200">
                <a:solidFill>
                  <a:srgbClr val="94A3B8"/>
                </a:solidFill>
              </a:defRPr>
            </a:pPr>
            <a:r>
              <a:t>1. SEED PHASE (Q4 2026)</a:t>
            </a:r>
          </a:p>
          <a:p>
            <a:pPr>
              <a:defRPr sz="1000">
                <a:solidFill>
                  <a:srgbClr val="FFFFFF"/>
                </a:solidFill>
              </a:defRPr>
            </a:pPr>
            <a:r>
              <a:t>Monthly Inference Tokens: 500M Tokens / Month</a:t>
            </a:r>
          </a:p>
          <a:p>
            <a:pPr>
              <a:defRPr sz="1000">
                <a:solidFill>
                  <a:srgbClr val="FFFFFF"/>
                </a:solidFill>
              </a:defRPr>
            </a:pPr>
            <a:r>
              <a:t>Gross Volume (GMV): $30,000 / month</a:t>
            </a:r>
          </a:p>
          <a:p>
            <a:pPr>
              <a:defRPr sz="1000">
                <a:solidFill>
                  <a:srgbClr val="FFFFFF"/>
                </a:solidFill>
              </a:defRPr>
            </a:pPr>
            <a:r>
              <a:t>50 bps Protocol Take: $150 / month</a:t>
            </a:r>
          </a:p>
          <a:p>
            <a:pPr>
              <a:defRPr sz="1000">
                <a:solidFill>
                  <a:srgbClr val="FFFFFF"/>
                </a:solidFill>
              </a:defRPr>
            </a:pPr>
            <a:r>
              <a:t>Connected Clusters: 10–25 Clusters</a:t>
            </a:r>
          </a:p>
          <a:p>
            <a:br/>
            <a:pPr>
              <a:defRPr sz="850">
                <a:solidFill>
                  <a:srgbClr val="94A3B8"/>
                </a:solidFill>
              </a:defRPr>
            </a:pPr>
            <a:r>
              <a:t>Focus: Initial bootstrap across European crypto developers and regional research labs.</a:t>
            </a:r>
          </a:p>
        </p:txBody>
      </p:sp>
      <p:sp>
        <p:nvSpPr>
          <p:cNvPr id="8" name="Rounded Rectangle 7"/>
          <p:cNvSpPr/>
          <p:nvPr/>
        </p:nvSpPr>
        <p:spPr>
          <a:xfrm>
            <a:off x="4206240" y="2468880"/>
            <a:ext cx="3474720" cy="3291840"/>
          </a:xfrm>
          <a:prstGeom prst="roundRect">
            <a:avLst/>
          </a:prstGeom>
          <a:solidFill>
            <a:srgbClr val="0C121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b="1" sz="1200">
                <a:solidFill>
                  <a:srgbClr val="38BDF8"/>
                </a:solidFill>
              </a:defRPr>
            </a:pPr>
            <a:r>
              <a:t>2. SCALE PHASE (2027)</a:t>
            </a:r>
          </a:p>
          <a:p>
            <a:pPr>
              <a:defRPr sz="1000">
                <a:solidFill>
                  <a:srgbClr val="FFFFFF"/>
                </a:solidFill>
              </a:defRPr>
            </a:pPr>
            <a:r>
              <a:t>Monthly Inference Tokens: 50 Billion Tokens / Month</a:t>
            </a:r>
          </a:p>
          <a:p>
            <a:pPr>
              <a:defRPr sz="1000">
                <a:solidFill>
                  <a:srgbClr val="FFFFFF"/>
                </a:solidFill>
              </a:defRPr>
            </a:pPr>
            <a:r>
              <a:t>Gross Volume (GMV): $3,000,000 / month</a:t>
            </a:r>
          </a:p>
          <a:p>
            <a:pPr>
              <a:defRPr sz="1000">
                <a:solidFill>
                  <a:srgbClr val="FFFFFF"/>
                </a:solidFill>
              </a:defRPr>
            </a:pPr>
            <a:r>
              <a:t>50 bps Protocol Take: $15,000 / mo ($180k/yr)</a:t>
            </a:r>
          </a:p>
          <a:p>
            <a:pPr>
              <a:defRPr sz="1000">
                <a:solidFill>
                  <a:srgbClr val="FFFFFF"/>
                </a:solidFill>
              </a:defRPr>
            </a:pPr>
            <a:r>
              <a:t>Connected Clusters: 100–250 Clusters</a:t>
            </a:r>
          </a:p>
          <a:p>
            <a:br/>
            <a:pPr>
              <a:defRPr sz="850">
                <a:solidFill>
                  <a:srgbClr val="94A3B8"/>
                </a:solidFill>
              </a:defRPr>
            </a:pPr>
            <a:r>
              <a:t>Focus: Expansion into algorithmic quant funds, automated customer service agents, and DeFi bots.</a:t>
            </a:r>
          </a:p>
        </p:txBody>
      </p:sp>
      <p:sp>
        <p:nvSpPr>
          <p:cNvPr id="9" name="Rounded Rectangle 8"/>
          <p:cNvSpPr/>
          <p:nvPr/>
        </p:nvSpPr>
        <p:spPr>
          <a:xfrm>
            <a:off x="7863840" y="2468880"/>
            <a:ext cx="3474720" cy="3291840"/>
          </a:xfrm>
          <a:prstGeom prst="roundRect">
            <a:avLst/>
          </a:prstGeom>
          <a:solidFill>
            <a:srgbClr val="0C121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b="1" sz="1200">
                <a:solidFill>
                  <a:srgbClr val="34D399"/>
                </a:solidFill>
              </a:defRPr>
            </a:pPr>
            <a:r>
              <a:t>3. VELOCITY PHASE (2028+)</a:t>
            </a:r>
          </a:p>
          <a:p>
            <a:pPr>
              <a:defRPr sz="1000">
                <a:solidFill>
                  <a:srgbClr val="FFFFFF"/>
                </a:solidFill>
              </a:defRPr>
            </a:pPr>
            <a:r>
              <a:t>Monthly Inference Tokens: 1 Trillion Tokens / Month</a:t>
            </a:r>
          </a:p>
          <a:p>
            <a:pPr>
              <a:defRPr sz="1000">
                <a:solidFill>
                  <a:srgbClr val="FFFFFF"/>
                </a:solidFill>
              </a:defRPr>
            </a:pPr>
            <a:r>
              <a:t>Gross Volume (GMV): $60,000,000 / month</a:t>
            </a:r>
          </a:p>
          <a:p>
            <a:pPr>
              <a:defRPr sz="1000">
                <a:solidFill>
                  <a:srgbClr val="FFFFFF"/>
                </a:solidFill>
              </a:defRPr>
            </a:pPr>
            <a:r>
              <a:t>50 bps Protocol Take: $300,000 / mo ($3.6M/yr)</a:t>
            </a:r>
          </a:p>
          <a:p>
            <a:pPr>
              <a:defRPr sz="1000">
                <a:solidFill>
                  <a:srgbClr val="FFFFFF"/>
                </a:solidFill>
              </a:defRPr>
            </a:pPr>
            <a:r>
              <a:t>Connected Clusters: 1,000+ Fleets</a:t>
            </a:r>
          </a:p>
          <a:p>
            <a:br/>
            <a:pPr>
              <a:defRPr sz="850">
                <a:solidFill>
                  <a:srgbClr val="94A3B8"/>
                </a:solidFill>
              </a:defRPr>
            </a:pPr>
            <a:r>
              <a:t>Focus: Machine-to-machine economy: autonomous AI agents clearing micro-inferences directly via HTTP 402.</a:t>
            </a:r>
          </a:p>
        </p:txBody>
      </p:sp>
    </p:spTree>
    <p:extLst>
      <p:ext uri="{BB962C8B-B14F-4D97-AF65-F5344CB8AC3E}">
        <p14:creationId xmlns:p14="http://schemas.microsoft.com/office/powerpoint/2010/main" val="3274124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F8EEC66D-5705-EFA2-48CD-A20E207609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ovéPole 3">
            <a:extLst>
              <a:ext uri="{FF2B5EF4-FFF2-40B4-BE49-F238E27FC236}">
                <a16:creationId xmlns:a16="http://schemas.microsoft.com/office/drawing/2014/main" id="{84A6F61D-4F9D-3992-AE32-612997C07620}"/>
              </a:ext>
            </a:extLst>
          </p:cNvPr>
          <p:cNvSpPr txBox="1"/>
          <p:nvPr/>
        </p:nvSpPr>
        <p:spPr>
          <a:xfrm>
            <a:off x="345109" y="1228343"/>
            <a:ext cx="7492606" cy="3416320"/>
          </a:xfrm>
          <a:prstGeom prst="rect">
            <a:avLst/>
          </a:prstGeom>
          <a:noFill/>
        </p:spPr>
        <p:txBody>
          <a:bodyPr wrap="square" rtlCol="0">
            <a:spAutoFit/>
          </a:bodyPr>
          <a:lstStyle/>
          <a:p>
            <a:r>
              <a:rPr lang="en-US" sz="5400">
                <a:solidFill>
                  <a:schemeClr val="bg1"/>
                </a:solidFill>
                <a:latin typeface="Montserrat ExtraBold" panose="00000900000000000000" pitchFamily="2" charset="0"/>
              </a:rPr>
              <a:t>How will you evaluate/measure if the project was successful?</a:t>
            </a:r>
            <a:endParaRPr lang="cs-CZ" sz="5400">
              <a:solidFill>
                <a:schemeClr val="bg1"/>
              </a:solidFill>
              <a:latin typeface="Montserrat ExtraBold" panose="00000900000000000000" pitchFamily="2" charset="0"/>
            </a:endParaRPr>
          </a:p>
        </p:txBody>
      </p:sp>
    </p:spTree>
    <p:extLst>
      <p:ext uri="{BB962C8B-B14F-4D97-AF65-F5344CB8AC3E}">
        <p14:creationId xmlns:p14="http://schemas.microsoft.com/office/powerpoint/2010/main" val="2815835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ovéPole 3">
            <a:extLst>
              <a:ext uri="{FF2B5EF4-FFF2-40B4-BE49-F238E27FC236}">
                <a16:creationId xmlns:a16="http://schemas.microsoft.com/office/drawing/2014/main" id="{0B31710B-8B9B-0342-73FA-85DF5ACB1FCB}"/>
              </a:ext>
            </a:extLst>
          </p:cNvPr>
          <p:cNvSpPr txBox="1"/>
          <p:nvPr/>
        </p:nvSpPr>
        <p:spPr>
          <a:xfrm>
            <a:off x="345108" y="257960"/>
            <a:ext cx="11495439" cy="369332"/>
          </a:xfrm>
          <a:prstGeom prst="rect">
            <a:avLst/>
          </a:prstGeom>
          <a:noFill/>
        </p:spPr>
        <p:txBody>
          <a:bodyPr wrap="square" rtlCol="0">
            <a:spAutoFit/>
          </a:bodyPr>
          <a:lstStyle/>
          <a:p>
            <a:r>
              <a:rPr lang="en-US">
                <a:solidFill>
                  <a:schemeClr val="tx1">
                    <a:lumMod val="50000"/>
                    <a:lumOff val="50000"/>
                  </a:schemeClr>
                </a:solidFill>
                <a:latin typeface="Montserrat ExtraBold" panose="00000900000000000000" pitchFamily="2" charset="0"/>
              </a:rPr>
              <a:t>How will you evaluate/measure if the project was successful?</a:t>
            </a:r>
            <a:endParaRPr lang="cs-CZ">
              <a:solidFill>
                <a:schemeClr val="tx1">
                  <a:lumMod val="50000"/>
                  <a:lumOff val="50000"/>
                </a:schemeClr>
              </a:solidFill>
              <a:latin typeface="Montserrat ExtraBold" panose="00000900000000000000" pitchFamily="2" charset="0"/>
            </a:endParaRPr>
          </a:p>
        </p:txBody>
      </p:sp>
      <p:sp>
        <p:nvSpPr>
          <p:cNvPr id="5" name="TextBox 4"/>
          <p:cNvSpPr txBox="1"/>
          <p:nvPr/>
        </p:nvSpPr>
        <p:spPr>
          <a:xfrm>
            <a:off x="548640" y="365760"/>
            <a:ext cx="11064240" cy="731520"/>
          </a:xfrm>
          <a:prstGeom prst="rect">
            <a:avLst/>
          </a:prstGeom>
          <a:noFill/>
        </p:spPr>
        <p:txBody>
          <a:bodyPr wrap="square" lIns="0" tIns="0" rIns="0" bIns="0">
            <a:spAutoFit/>
          </a:bodyPr>
          <a:lstStyle/>
          <a:p>
            <a:pPr>
              <a:defRPr sz="2400" b="1">
                <a:solidFill>
                  <a:srgbClr val="FFFFFF"/>
                </a:solidFill>
                <a:latin typeface="Arial"/>
              </a:defRPr>
            </a:pPr>
            <a:r>
              <a:t>Evaluation Metrics &amp; EU Legal Defensibility</a:t>
            </a:r>
          </a:p>
          <a:p>
            <a:pPr>
              <a:defRPr sz="1300">
                <a:solidFill>
                  <a:srgbClr val="38BDF8"/>
                </a:solidFill>
                <a:latin typeface="Arial"/>
              </a:defRPr>
            </a:pPr>
            <a:r>
              <a:t>Rigorous quantitative benchmarks coupled with MiCA regulatory compliance</a:t>
            </a:r>
          </a:p>
        </p:txBody>
      </p:sp>
      <p:sp>
        <p:nvSpPr>
          <p:cNvPr id="6" name="Rounded Rectangle 5"/>
          <p:cNvSpPr/>
          <p:nvPr/>
        </p:nvSpPr>
        <p:spPr>
          <a:xfrm>
            <a:off x="548640" y="1371600"/>
            <a:ext cx="5257800" cy="4389120"/>
          </a:xfrm>
          <a:prstGeom prst="roundRect">
            <a:avLst/>
          </a:prstGeom>
          <a:solidFill>
            <a:srgbClr val="0C121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b="1" sz="1300">
                <a:solidFill>
                  <a:srgbClr val="34D399"/>
                </a:solidFill>
              </a:defRPr>
            </a:pPr>
            <a:r>
              <a:t>📊 QUANTITATIVE SUCCESS BENCHMARKS (KPIs)</a:t>
            </a:r>
          </a:p>
          <a:p>
            <a:br/>
            <a:pPr>
              <a:defRPr b="1" sz="1050">
                <a:solidFill>
                  <a:srgbClr val="FFFFFF"/>
                </a:solidFill>
              </a:defRPr>
            </a:pPr>
            <a:r>
              <a:t>• Gross Inference Volume (GMV)</a:t>
            </a:r>
          </a:p>
          <a:p>
            <a:pPr>
              <a:defRPr sz="900">
                <a:solidFill>
                  <a:srgbClr val="94A3B8"/>
                </a:solidFill>
              </a:defRPr>
            </a:pPr>
            <a:r>
              <a:t>Target: Exceed $5M monthly GMV within 12 months of mainnet launch.</a:t>
            </a:r>
          </a:p>
          <a:p>
            <a:br/>
            <a:pPr>
              <a:defRPr b="1" sz="1050">
                <a:solidFill>
                  <a:srgbClr val="FFFFFF"/>
                </a:solidFill>
              </a:defRPr>
            </a:pPr>
            <a:r>
              <a:t>• Sub-5ms Router Latency Overhead</a:t>
            </a:r>
          </a:p>
          <a:p>
            <a:pPr>
              <a:defRPr sz="900">
                <a:solidFill>
                  <a:srgbClr val="94A3B8"/>
                </a:solidFill>
              </a:defRPr>
            </a:pPr>
            <a:r>
              <a:t>Edge proxy overhead strictly capped below 5ms (measured 3.8ms on Cloudflare edge).</a:t>
            </a:r>
          </a:p>
          <a:p>
            <a:br/>
            <a:pPr>
              <a:defRPr b="1" sz="1050">
                <a:solidFill>
                  <a:srgbClr val="FFFFFF"/>
                </a:solidFill>
              </a:defRPr>
            </a:pPr>
            <a:r>
              <a:t>• Autonomous Canary SLA Uptime (99.99%)</a:t>
            </a:r>
          </a:p>
          <a:p>
            <a:pPr>
              <a:defRPr sz="900">
                <a:solidFill>
                  <a:srgbClr val="94A3B8"/>
                </a:solidFill>
              </a:defRPr>
            </a:pPr>
            <a:r>
              <a:t>Zero tolerance for degraded nodes: automated seed=42 canary slashing enforces 99.99% model accuracy.</a:t>
            </a:r>
          </a:p>
          <a:p>
            <a:br/>
            <a:pPr>
              <a:defRPr b="1" sz="1050">
                <a:solidFill>
                  <a:srgbClr val="FFFFFF"/>
                </a:solidFill>
              </a:defRPr>
            </a:pPr>
            <a:r>
              <a:t>• DAO Treasury Growth &amp; Deflation</a:t>
            </a:r>
          </a:p>
          <a:p>
            <a:pPr>
              <a:defRPr sz="900">
                <a:solidFill>
                  <a:srgbClr val="94A3B8"/>
                </a:solidFill>
              </a:defRPr>
            </a:pPr>
            <a:r>
              <a:t>Positive cash flow: 80% protocol take retained in DAO reserve, 20% allocated to insurance.</a:t>
            </a:r>
          </a:p>
        </p:txBody>
      </p:sp>
      <p:sp>
        <p:nvSpPr>
          <p:cNvPr id="7" name="Rounded Rectangle 6"/>
          <p:cNvSpPr/>
          <p:nvPr/>
        </p:nvSpPr>
        <p:spPr>
          <a:xfrm>
            <a:off x="6080760" y="1371600"/>
            <a:ext cx="5257800" cy="4389120"/>
          </a:xfrm>
          <a:prstGeom prst="roundRect">
            <a:avLst/>
          </a:prstGeom>
          <a:solidFill>
            <a:srgbClr val="0C121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b="1" sz="1300">
                <a:solidFill>
                  <a:srgbClr val="38BDF8"/>
                </a:solidFill>
              </a:defRPr>
            </a:pPr>
            <a:r>
              <a:t>⚖️ LEGAL STRUCTURE &amp; EU REGULATORY IMMUNITY</a:t>
            </a:r>
          </a:p>
          <a:p>
            <a:br/>
            <a:pPr>
              <a:defRPr b="1" sz="1050">
                <a:solidFill>
                  <a:srgbClr val="FFFFFF"/>
                </a:solidFill>
              </a:defRPr>
            </a:pPr>
            <a:r>
              <a:t>• MiCA Non-Custodial Exemption</a:t>
            </a:r>
          </a:p>
          <a:p>
            <a:pPr>
              <a:defRPr sz="900">
                <a:solidFill>
                  <a:srgbClr val="94A3B8"/>
                </a:solidFill>
              </a:defRPr>
            </a:pPr>
            <a:r>
              <a:t>Under EU Markets in Crypto-Assets (MiCA), purely technical non-custodial routers do not hold customer funds and are exempt from CASP licensing.</a:t>
            </a:r>
          </a:p>
          <a:p>
            <a:br/>
            <a:pPr>
              <a:defRPr b="1" sz="1050">
                <a:solidFill>
                  <a:srgbClr val="FFFFFF"/>
                </a:solidFill>
              </a:defRPr>
            </a:pPr>
            <a:r>
              <a:t>• Stateless Edge Payload Routing</a:t>
            </a:r>
          </a:p>
          <a:p>
            <a:pPr>
              <a:defRPr sz="900">
                <a:solidFill>
                  <a:srgbClr val="94A3B8"/>
                </a:solidFill>
              </a:defRPr>
            </a:pPr>
            <a:r>
              <a:t>Inference prompts and completions are streamed in transit through RAM and never persisted to disk, fully complying with GDPR and EU AI Act Article 50.</a:t>
            </a:r>
          </a:p>
          <a:p>
            <a:br/>
            <a:pPr>
              <a:defRPr b="1" sz="1050">
                <a:solidFill>
                  <a:srgbClr val="FFFFFF"/>
                </a:solidFill>
              </a:defRPr>
            </a:pPr>
            <a:r>
              <a:t>• Aragon OSx Decentralized Governance</a:t>
            </a:r>
          </a:p>
          <a:p>
            <a:pPr>
              <a:defRPr sz="900">
                <a:solidFill>
                  <a:srgbClr val="94A3B8"/>
                </a:solidFill>
              </a:defRPr>
            </a:pPr>
            <a:r>
              <a:t>Protocol parameter updates, fee changes, and slashing decisions are governed exclusively by on-chain DAO consensus, avoiding centralized issuer liabilities.</a:t>
            </a:r>
          </a:p>
          <a:p>
            <a:br/>
            <a:pPr>
              <a:defRPr b="1" sz="1050">
                <a:solidFill>
                  <a:srgbClr val="FFFFFF"/>
                </a:solidFill>
              </a:defRPr>
            </a:pPr>
            <a:r>
              <a:t>• Arbitrum L2 Native USDC Settlement</a:t>
            </a:r>
          </a:p>
          <a:p>
            <a:pPr>
              <a:defRPr sz="900">
                <a:solidFill>
                  <a:srgbClr val="94A3B8"/>
                </a:solidFill>
              </a:defRPr>
            </a:pPr>
            <a:r>
              <a:t>Settlements utilize regulated Circle USDC on Arbitrum with verified on-chain proofs and deterministic smart contracts.</a:t>
            </a:r>
          </a:p>
        </p:txBody>
      </p:sp>
    </p:spTree>
    <p:extLst>
      <p:ext uri="{BB962C8B-B14F-4D97-AF65-F5344CB8AC3E}">
        <p14:creationId xmlns:p14="http://schemas.microsoft.com/office/powerpoint/2010/main" val="89811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F8EEC66D-5705-EFA2-48CD-A20E2076090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extovéPole 3">
            <a:extLst>
              <a:ext uri="{FF2B5EF4-FFF2-40B4-BE49-F238E27FC236}">
                <a16:creationId xmlns:a16="http://schemas.microsoft.com/office/drawing/2014/main" id="{84A6F61D-4F9D-3992-AE32-612997C07620}"/>
              </a:ext>
            </a:extLst>
          </p:cNvPr>
          <p:cNvSpPr txBox="1"/>
          <p:nvPr/>
        </p:nvSpPr>
        <p:spPr>
          <a:xfrm>
            <a:off x="345108" y="1228343"/>
            <a:ext cx="8199123" cy="2585323"/>
          </a:xfrm>
          <a:prstGeom prst="rect">
            <a:avLst/>
          </a:prstGeom>
          <a:noFill/>
        </p:spPr>
        <p:txBody>
          <a:bodyPr wrap="square" rtlCol="0">
            <a:spAutoFit/>
          </a:bodyPr>
          <a:lstStyle/>
          <a:p>
            <a:r>
              <a:rPr lang="en-US" sz="5400">
                <a:solidFill>
                  <a:schemeClr val="bg1"/>
                </a:solidFill>
                <a:latin typeface="Montserrat ExtraBold" panose="00000900000000000000" pitchFamily="2" charset="0"/>
              </a:rPr>
              <a:t>What is the expected timeframe/duration of the project?</a:t>
            </a:r>
            <a:endParaRPr lang="cs-CZ" sz="5400">
              <a:solidFill>
                <a:schemeClr val="bg1"/>
              </a:solidFill>
              <a:latin typeface="Montserrat ExtraBold" panose="00000900000000000000" pitchFamily="2" charset="0"/>
            </a:endParaRPr>
          </a:p>
        </p:txBody>
      </p:sp>
    </p:spTree>
    <p:extLst>
      <p:ext uri="{BB962C8B-B14F-4D97-AF65-F5344CB8AC3E}">
        <p14:creationId xmlns:p14="http://schemas.microsoft.com/office/powerpoint/2010/main" val="160093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ovéPole 3">
            <a:extLst>
              <a:ext uri="{FF2B5EF4-FFF2-40B4-BE49-F238E27FC236}">
                <a16:creationId xmlns:a16="http://schemas.microsoft.com/office/drawing/2014/main" id="{0B31710B-8B9B-0342-73FA-85DF5ACB1FCB}"/>
              </a:ext>
            </a:extLst>
          </p:cNvPr>
          <p:cNvSpPr txBox="1"/>
          <p:nvPr/>
        </p:nvSpPr>
        <p:spPr>
          <a:xfrm>
            <a:off x="345108" y="257960"/>
            <a:ext cx="11495439" cy="369332"/>
          </a:xfrm>
          <a:prstGeom prst="rect">
            <a:avLst/>
          </a:prstGeom>
          <a:noFill/>
        </p:spPr>
        <p:txBody>
          <a:bodyPr wrap="square" rtlCol="0">
            <a:spAutoFit/>
          </a:bodyPr>
          <a:lstStyle/>
          <a:p>
            <a:r>
              <a:rPr lang="en-US">
                <a:solidFill>
                  <a:schemeClr val="tx1">
                    <a:lumMod val="50000"/>
                    <a:lumOff val="50000"/>
                  </a:schemeClr>
                </a:solidFill>
                <a:latin typeface="Montserrat ExtraBold" panose="00000900000000000000" pitchFamily="2" charset="0"/>
              </a:rPr>
              <a:t>What is the expected timeframe/duration of the project?</a:t>
            </a:r>
            <a:endParaRPr lang="cs-CZ">
              <a:solidFill>
                <a:schemeClr val="tx1">
                  <a:lumMod val="50000"/>
                  <a:lumOff val="50000"/>
                </a:schemeClr>
              </a:solidFill>
              <a:latin typeface="Montserrat ExtraBold" panose="00000900000000000000" pitchFamily="2" charset="0"/>
            </a:endParaRPr>
          </a:p>
        </p:txBody>
      </p:sp>
      <p:sp>
        <p:nvSpPr>
          <p:cNvPr id="5" name="TextBox 4"/>
          <p:cNvSpPr txBox="1"/>
          <p:nvPr/>
        </p:nvSpPr>
        <p:spPr>
          <a:xfrm>
            <a:off x="548640" y="365760"/>
            <a:ext cx="11064240" cy="731520"/>
          </a:xfrm>
          <a:prstGeom prst="rect">
            <a:avLst/>
          </a:prstGeom>
          <a:noFill/>
        </p:spPr>
        <p:txBody>
          <a:bodyPr wrap="square" lIns="0" tIns="0" rIns="0" bIns="0">
            <a:spAutoFit/>
          </a:bodyPr>
          <a:lstStyle/>
          <a:p>
            <a:pPr>
              <a:defRPr sz="2400" b="1">
                <a:solidFill>
                  <a:srgbClr val="FFFFFF"/>
                </a:solidFill>
                <a:latin typeface="Arial"/>
              </a:defRPr>
            </a:pPr>
            <a:r>
              <a:t>Project Roadmap: 4 Strategic Horizons (2026–2028)</a:t>
            </a:r>
          </a:p>
          <a:p>
            <a:pPr>
              <a:defRPr sz="1300">
                <a:solidFill>
                  <a:srgbClr val="38BDF8"/>
                </a:solidFill>
                <a:latin typeface="Arial"/>
              </a:defRPr>
            </a:pPr>
            <a:r>
              <a:t>From live non-custodial clearing to autonomous machine-to-machine micro-clearing</a:t>
            </a:r>
          </a:p>
        </p:txBody>
      </p:sp>
      <p:sp>
        <p:nvSpPr>
          <p:cNvPr id="6" name="Rounded Rectangle 5"/>
          <p:cNvSpPr/>
          <p:nvPr/>
        </p:nvSpPr>
        <p:spPr>
          <a:xfrm>
            <a:off x="548640" y="1371600"/>
            <a:ext cx="2560320" cy="4297680"/>
          </a:xfrm>
          <a:prstGeom prst="roundRect">
            <a:avLst/>
          </a:prstGeom>
          <a:solidFill>
            <a:srgbClr val="0C121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34D399"/>
                </a:solidFill>
              </a:defRPr>
            </a:pPr>
            <a:r>
              <a:t>HORIZON 1 (Q4 2026)</a:t>
            </a:r>
          </a:p>
          <a:p>
            <a:pPr>
              <a:defRPr b="1" sz="950">
                <a:solidFill>
                  <a:srgbClr val="FFFFFF"/>
                </a:solidFill>
              </a:defRPr>
            </a:pPr>
            <a:r>
              <a:t>LIVE ON MAINNET</a:t>
            </a:r>
          </a:p>
          <a:p>
            <a:br/>
            <a:pPr>
              <a:defRPr b="1" sz="900">
                <a:solidFill>
                  <a:srgbClr val="34D399"/>
                </a:solidFill>
              </a:defRPr>
            </a:pPr>
            <a:r>
              <a:t>• Status: OPERATIONAL:</a:t>
            </a:r>
          </a:p>
          <a:p>
            <a:pPr>
              <a:defRPr sz="850">
                <a:solidFill>
                  <a:srgbClr val="94A3B8"/>
                </a:solidFill>
              </a:defRPr>
            </a:pPr>
            <a:r>
              <a:t>100% Complete</a:t>
            </a:r>
          </a:p>
          <a:p>
            <a:br/>
            <a:pPr>
              <a:defRPr b="1" sz="900">
                <a:solidFill>
                  <a:srgbClr val="34D399"/>
                </a:solidFill>
              </a:defRPr>
            </a:pPr>
            <a:r>
              <a:t>• Live 50 bps Switch:</a:t>
            </a:r>
          </a:p>
          <a:p>
            <a:pPr>
              <a:defRPr sz="850">
                <a:solidFill>
                  <a:srgbClr val="94A3B8"/>
                </a:solidFill>
              </a:defRPr>
            </a:pPr>
            <a:r>
              <a:t>Stateless Cloudflare edge router deployed.</a:t>
            </a:r>
          </a:p>
          <a:p>
            <a:br/>
            <a:pPr>
              <a:defRPr b="1" sz="900">
                <a:solidFill>
                  <a:srgbClr val="34D399"/>
                </a:solidFill>
              </a:defRPr>
            </a:pPr>
            <a:r>
              <a:t>• PostgreSQL Ledger:</a:t>
            </a:r>
          </a:p>
          <a:p>
            <a:pPr>
              <a:defRPr sz="850">
                <a:solidFill>
                  <a:srgbClr val="94A3B8"/>
                </a:solidFill>
              </a:defRPr>
            </a:pPr>
            <a:r>
              <a:t>Isolated `verxl.*` schema on Charizard.</a:t>
            </a:r>
          </a:p>
          <a:p>
            <a:br/>
            <a:pPr>
              <a:defRPr b="1" sz="900">
                <a:solidFill>
                  <a:srgbClr val="34D399"/>
                </a:solidFill>
              </a:defRPr>
            </a:pPr>
            <a:r>
              <a:t>• 2FA &amp; PBKDF2 Auth:</a:t>
            </a:r>
          </a:p>
          <a:p>
            <a:pPr>
              <a:defRPr sz="850">
                <a:solidFill>
                  <a:srgbClr val="94A3B8"/>
                </a:solidFill>
              </a:defRPr>
            </a:pPr>
            <a:r>
              <a:t>WebCrypto TOTP + emergency codes.</a:t>
            </a:r>
          </a:p>
          <a:p>
            <a:br/>
            <a:pPr>
              <a:defRPr b="1" sz="900">
                <a:solidFill>
                  <a:srgbClr val="34D399"/>
                </a:solidFill>
              </a:defRPr>
            </a:pPr>
            <a:r>
              <a:t>• DAO Contracts:</a:t>
            </a:r>
          </a:p>
          <a:p>
            <a:pPr>
              <a:defRPr sz="850">
                <a:solidFill>
                  <a:srgbClr val="94A3B8"/>
                </a:solidFill>
              </a:defRPr>
            </a:pPr>
            <a:r>
              <a:t>Aragon OSx governance live on Sepolia/Arbitrum.</a:t>
            </a:r>
          </a:p>
        </p:txBody>
      </p:sp>
      <p:sp>
        <p:nvSpPr>
          <p:cNvPr id="7" name="Rounded Rectangle 6"/>
          <p:cNvSpPr/>
          <p:nvPr/>
        </p:nvSpPr>
        <p:spPr>
          <a:xfrm>
            <a:off x="3291840" y="1371600"/>
            <a:ext cx="2560320" cy="4297680"/>
          </a:xfrm>
          <a:prstGeom prst="roundRect">
            <a:avLst/>
          </a:prstGeom>
          <a:solidFill>
            <a:srgbClr val="0C121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38BDF8"/>
                </a:solidFill>
              </a:defRPr>
            </a:pPr>
            <a:r>
              <a:t>HORIZON 2 (Q1–Q2 2027)</a:t>
            </a:r>
          </a:p>
          <a:p>
            <a:pPr>
              <a:defRPr b="1" sz="950">
                <a:solidFill>
                  <a:srgbClr val="FFFFFF"/>
                </a:solidFill>
              </a:defRPr>
            </a:pPr>
            <a:r>
              <a:t>CANARY SLASHING FLEET</a:t>
            </a:r>
          </a:p>
          <a:p>
            <a:br/>
            <a:pPr>
              <a:defRPr b="1" sz="900">
                <a:solidFill>
                  <a:srgbClr val="38BDF8"/>
                </a:solidFill>
              </a:defRPr>
            </a:pPr>
            <a:r>
              <a:t>• Status: IN DEVELOPMENT:</a:t>
            </a:r>
          </a:p>
          <a:p>
            <a:pPr>
              <a:defRPr sz="850">
                <a:solidFill>
                  <a:srgbClr val="94A3B8"/>
                </a:solidFill>
              </a:defRPr>
            </a:pPr>
            <a:r>
              <a:t>45% Complete</a:t>
            </a:r>
          </a:p>
          <a:p>
            <a:br/>
            <a:pPr>
              <a:defRPr b="1" sz="900">
                <a:solidFill>
                  <a:srgbClr val="38BDF8"/>
                </a:solidFill>
              </a:defRPr>
            </a:pPr>
            <a:r>
              <a:t>• Provider Registry:</a:t>
            </a:r>
          </a:p>
          <a:p>
            <a:pPr>
              <a:defRPr sz="850">
                <a:solidFill>
                  <a:srgbClr val="94A3B8"/>
                </a:solidFill>
              </a:defRPr>
            </a:pPr>
            <a:r>
              <a:t>Staking 1,000 $VRXL minimum collateral.</a:t>
            </a:r>
          </a:p>
          <a:p>
            <a:br/>
            <a:pPr>
              <a:defRPr b="1" sz="900">
                <a:solidFill>
                  <a:srgbClr val="38BDF8"/>
                </a:solidFill>
              </a:defRPr>
            </a:pPr>
            <a:r>
              <a:t>• Seed=42 Slashing:</a:t>
            </a:r>
          </a:p>
          <a:p>
            <a:pPr>
              <a:defRPr sz="850">
                <a:solidFill>
                  <a:srgbClr val="94A3B8"/>
                </a:solidFill>
              </a:defRPr>
            </a:pPr>
            <a:r>
              <a:t>Automated 10% collateral slash on SLA fail.</a:t>
            </a:r>
          </a:p>
          <a:p>
            <a:br/>
            <a:pPr>
              <a:defRPr b="1" sz="900">
                <a:solidFill>
                  <a:srgbClr val="38BDF8"/>
                </a:solidFill>
              </a:defRPr>
            </a:pPr>
            <a:r>
              <a:t>• Hardware Clusters:</a:t>
            </a:r>
          </a:p>
          <a:p>
            <a:pPr>
              <a:defRPr sz="850">
                <a:solidFill>
                  <a:srgbClr val="94A3B8"/>
                </a:solidFill>
              </a:defRPr>
            </a:pPr>
            <a:r>
              <a:t>Integration of 50+ independent GPU clusters.</a:t>
            </a:r>
          </a:p>
          <a:p>
            <a:br/>
            <a:pPr>
              <a:defRPr b="1" sz="900">
                <a:solidFill>
                  <a:srgbClr val="38BDF8"/>
                </a:solidFill>
              </a:defRPr>
            </a:pPr>
            <a:r>
              <a:t>• Public Console 2.0:</a:t>
            </a:r>
          </a:p>
          <a:p>
            <a:pPr>
              <a:defRPr sz="850">
                <a:solidFill>
                  <a:srgbClr val="94A3B8"/>
                </a:solidFill>
              </a:defRPr>
            </a:pPr>
            <a:r>
              <a:t>One-click provider deployment CLI.</a:t>
            </a:r>
          </a:p>
        </p:txBody>
      </p:sp>
      <p:sp>
        <p:nvSpPr>
          <p:cNvPr id="8" name="Rounded Rectangle 7"/>
          <p:cNvSpPr/>
          <p:nvPr/>
        </p:nvSpPr>
        <p:spPr>
          <a:xfrm>
            <a:off x="6035040" y="1371600"/>
            <a:ext cx="2560320" cy="4297680"/>
          </a:xfrm>
          <a:prstGeom prst="roundRect">
            <a:avLst/>
          </a:prstGeom>
          <a:solidFill>
            <a:srgbClr val="0C121E"/>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C084FC"/>
                </a:solidFill>
              </a:defRPr>
            </a:pPr>
            <a:r>
              <a:t>HORIZON 3 (Q3–Q4 2027)</a:t>
            </a:r>
          </a:p>
          <a:p>
            <a:pPr>
              <a:defRPr b="1" sz="950">
                <a:solidFill>
                  <a:srgbClr val="FFFFFF"/>
                </a:solidFill>
              </a:defRPr>
            </a:pPr>
            <a:r>
              <a:t>ZK-PROOFS OF INFERENCE</a:t>
            </a:r>
          </a:p>
          <a:p>
            <a:br/>
            <a:pPr>
              <a:defRPr b="1" sz="900">
                <a:solidFill>
                  <a:srgbClr val="C084FC"/>
                </a:solidFill>
              </a:defRPr>
            </a:pPr>
            <a:r>
              <a:t>• Status: PLANNED:</a:t>
            </a:r>
          </a:p>
          <a:p>
            <a:pPr>
              <a:defRPr sz="850">
                <a:solidFill>
                  <a:srgbClr val="94A3B8"/>
                </a:solidFill>
              </a:defRPr>
            </a:pPr>
            <a:r>
              <a:t>Research Phase</a:t>
            </a:r>
          </a:p>
          <a:p>
            <a:br/>
            <a:pPr>
              <a:defRPr b="1" sz="900">
                <a:solidFill>
                  <a:srgbClr val="C084FC"/>
                </a:solidFill>
              </a:defRPr>
            </a:pPr>
            <a:r>
              <a:t>• Zero-Knowledge Proofs:</a:t>
            </a:r>
          </a:p>
          <a:p>
            <a:pPr>
              <a:defRPr sz="850">
                <a:solidFill>
                  <a:srgbClr val="94A3B8"/>
                </a:solidFill>
              </a:defRPr>
            </a:pPr>
            <a:r>
              <a:t>Succinct ZK-SNARK output verification.</a:t>
            </a:r>
          </a:p>
          <a:p>
            <a:br/>
            <a:pPr>
              <a:defRPr b="1" sz="900">
                <a:solidFill>
                  <a:srgbClr val="C084FC"/>
                </a:solidFill>
              </a:defRPr>
            </a:pPr>
            <a:r>
              <a:t>• Non-Repudiation:</a:t>
            </a:r>
          </a:p>
          <a:p>
            <a:pPr>
              <a:defRPr sz="850">
                <a:solidFill>
                  <a:srgbClr val="94A3B8"/>
                </a:solidFill>
              </a:defRPr>
            </a:pPr>
            <a:r>
              <a:t>Cryptographic proof of model execution.</a:t>
            </a:r>
          </a:p>
          <a:p>
            <a:br/>
            <a:pPr>
              <a:defRPr b="1" sz="900">
                <a:solidFill>
                  <a:srgbClr val="C084FC"/>
                </a:solidFill>
              </a:defRPr>
            </a:pPr>
            <a:r>
              <a:t>• Enterprise SLA Vaults:</a:t>
            </a:r>
          </a:p>
          <a:p>
            <a:pPr>
              <a:defRPr sz="850">
                <a:solidFill>
                  <a:srgbClr val="94A3B8"/>
                </a:solidFill>
              </a:defRPr>
            </a:pPr>
            <a:r>
              <a:t>DeFi insurance pools backing uptime.</a:t>
            </a:r>
          </a:p>
          <a:p>
            <a:br/>
            <a:pPr>
              <a:defRPr b="1" sz="900">
                <a:solidFill>
                  <a:srgbClr val="C084FC"/>
                </a:solidFill>
              </a:defRPr>
            </a:pPr>
            <a:r>
              <a:t>• Institutional Gateway:</a:t>
            </a:r>
          </a:p>
          <a:p>
            <a:pPr>
              <a:defRPr sz="850">
                <a:solidFill>
                  <a:srgbClr val="94A3B8"/>
                </a:solidFill>
              </a:defRPr>
            </a:pPr>
            <a:r>
              <a:t>Direct sub-millisecond dark-pool routing.</a:t>
            </a:r>
          </a:p>
        </p:txBody>
      </p:sp>
      <p:sp>
        <p:nvSpPr>
          <p:cNvPr id="9" name="Rounded Rectangle 8"/>
          <p:cNvSpPr/>
          <p:nvPr/>
        </p:nvSpPr>
        <p:spPr>
          <a:xfrm>
            <a:off x="8778240" y="1371600"/>
            <a:ext cx="2560320" cy="4297680"/>
          </a:xfrm>
          <a:prstGeom prst="roundRect">
            <a:avLst/>
          </a:prstGeom>
          <a:solidFill>
            <a:srgbClr val="0C121E"/>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b="1" sz="1100">
                <a:solidFill>
                  <a:srgbClr val="FBBF24"/>
                </a:solidFill>
              </a:defRPr>
            </a:pPr>
            <a:r>
              <a:t>HORIZON 4 (2028+)</a:t>
            </a:r>
          </a:p>
          <a:p>
            <a:pPr>
              <a:defRPr b="1" sz="950">
                <a:solidFill>
                  <a:srgbClr val="FFFFFF"/>
                </a:solidFill>
              </a:defRPr>
            </a:pPr>
            <a:r>
              <a:t>M2M AGENT ECONOMY</a:t>
            </a:r>
          </a:p>
          <a:p>
            <a:br/>
            <a:pPr>
              <a:defRPr b="1" sz="900">
                <a:solidFill>
                  <a:srgbClr val="FBBF24"/>
                </a:solidFill>
              </a:defRPr>
            </a:pPr>
            <a:r>
              <a:t>• Status: PLANNED:</a:t>
            </a:r>
          </a:p>
          <a:p>
            <a:pPr>
              <a:defRPr sz="850">
                <a:solidFill>
                  <a:srgbClr val="94A3B8"/>
                </a:solidFill>
              </a:defRPr>
            </a:pPr>
            <a:r>
              <a:t>Future Horizon</a:t>
            </a:r>
          </a:p>
          <a:p>
            <a:br/>
            <a:pPr>
              <a:defRPr b="1" sz="900">
                <a:solidFill>
                  <a:srgbClr val="FBBF24"/>
                </a:solidFill>
              </a:defRPr>
            </a:pPr>
            <a:r>
              <a:t>• HTTP 402 Micropayments:</a:t>
            </a:r>
          </a:p>
          <a:p>
            <a:pPr>
              <a:defRPr sz="850">
                <a:solidFill>
                  <a:srgbClr val="94A3B8"/>
                </a:solidFill>
              </a:defRPr>
            </a:pPr>
            <a:r>
              <a:t>Direct agent-to-agent inference payment.</a:t>
            </a:r>
          </a:p>
          <a:p>
            <a:br/>
            <a:pPr>
              <a:defRPr b="1" sz="900">
                <a:solidFill>
                  <a:srgbClr val="FBBF24"/>
                </a:solidFill>
              </a:defRPr>
            </a:pPr>
            <a:r>
              <a:t>• Autonomous AI Nodes:</a:t>
            </a:r>
          </a:p>
          <a:p>
            <a:pPr>
              <a:defRPr sz="850">
                <a:solidFill>
                  <a:srgbClr val="94A3B8"/>
                </a:solidFill>
              </a:defRPr>
            </a:pPr>
            <a:r>
              <a:t>Agents hire compute without human intervention.</a:t>
            </a:r>
          </a:p>
          <a:p>
            <a:br/>
            <a:pPr>
              <a:defRPr b="1" sz="900">
                <a:solidFill>
                  <a:srgbClr val="FBBF24"/>
                </a:solidFill>
              </a:defRPr>
            </a:pPr>
            <a:r>
              <a:t>• Decentralized Weights:</a:t>
            </a:r>
          </a:p>
          <a:p>
            <a:pPr>
              <a:defRPr sz="850">
                <a:solidFill>
                  <a:srgbClr val="94A3B8"/>
                </a:solidFill>
              </a:defRPr>
            </a:pPr>
            <a:r>
              <a:t>P2P sharded model weights over IPFS/libp2p.</a:t>
            </a:r>
          </a:p>
          <a:p>
            <a:br/>
            <a:pPr>
              <a:defRPr b="1" sz="900">
                <a:solidFill>
                  <a:srgbClr val="FBBF24"/>
                </a:solidFill>
              </a:defRPr>
            </a:pPr>
            <a:r>
              <a:t>• Global Compute Mesh:</a:t>
            </a:r>
          </a:p>
          <a:p>
            <a:pPr>
              <a:defRPr sz="850">
                <a:solidFill>
                  <a:srgbClr val="94A3B8"/>
                </a:solidFill>
              </a:defRPr>
            </a:pPr>
            <a:r>
              <a:t>Ubiquitous multi-cloud decentralized clearing.</a:t>
            </a:r>
          </a:p>
        </p:txBody>
      </p:sp>
    </p:spTree>
    <p:extLst>
      <p:ext uri="{BB962C8B-B14F-4D97-AF65-F5344CB8AC3E}">
        <p14:creationId xmlns:p14="http://schemas.microsoft.com/office/powerpoint/2010/main" val="3120329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Obrázek 6" descr="Obsah obrázku text&#10;&#10;Popis byl vytvořen automaticky">
            <a:extLst>
              <a:ext uri="{FF2B5EF4-FFF2-40B4-BE49-F238E27FC236}">
                <a16:creationId xmlns:a16="http://schemas.microsoft.com/office/drawing/2014/main" id="{096FD19B-4955-322C-033A-347C76AF55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390" y="608565"/>
            <a:ext cx="4161577" cy="835353"/>
          </a:xfrm>
          <a:prstGeom prst="rect">
            <a:avLst/>
          </a:prstGeom>
        </p:spPr>
      </p:pic>
      <p:sp>
        <p:nvSpPr>
          <p:cNvPr id="8" name="TextovéPole 7">
            <a:extLst>
              <a:ext uri="{FF2B5EF4-FFF2-40B4-BE49-F238E27FC236}">
                <a16:creationId xmlns:a16="http://schemas.microsoft.com/office/drawing/2014/main" id="{093417AE-B98E-0F94-1741-FFC7B0AB6675}"/>
              </a:ext>
            </a:extLst>
          </p:cNvPr>
          <p:cNvSpPr txBox="1"/>
          <p:nvPr/>
        </p:nvSpPr>
        <p:spPr>
          <a:xfrm>
            <a:off x="522390" y="1745923"/>
            <a:ext cx="6232849" cy="3231654"/>
          </a:xfrm>
          <a:prstGeom prst="rect">
            <a:avLst/>
          </a:prstGeom>
          <a:noFill/>
        </p:spPr>
        <p:txBody>
          <a:bodyPr wrap="square" lIns="91440" tIns="45720" rIns="91440" bIns="45720" rtlCol="0" anchor="t">
            <a:spAutoFit/>
          </a:bodyPr>
          <a:lstStyle/>
          <a:p>
            <a:pPr>
              <a:defRPr sz="3200" b="1">
                <a:solidFill>
                  <a:srgbClr val="FFFFFF"/>
                </a:solidFill>
                <a:latin typeface="Arial Black"/>
              </a:defRPr>
            </a:pPr>
            <a:r>
              <a:t>Thank you for your attention!</a:t>
            </a:r>
          </a:p>
          <a:p>
            <a:pPr>
              <a:defRPr sz="1600">
                <a:solidFill>
                  <a:srgbClr val="38BDF8"/>
                </a:solidFill>
              </a:defRPr>
            </a:pPr>
            <a:r>
              <a:t>Verxl Protocol · The Capital-Light Clearing Switch for Global AI Compute</a:t>
            </a:r>
            <a:br/>
          </a:p>
          <a:p>
            <a:pPr>
              <a:defRPr sz="1200">
                <a:solidFill>
                  <a:srgbClr val="94A3B8"/>
                </a:solidFill>
              </a:defRPr>
            </a:pPr>
            <a:r>
              <a:t>Presenter: Simon Havlík (havlik.simon@post.cz)</a:t>
            </a:r>
            <a:br/>
            <a:r>
              <a:t>Live Platform: https://verxl.com  ·  Documentation: https://verxl.com/whitepaper</a:t>
            </a:r>
            <a:br/>
            <a:r>
              <a:t>Prague University of Economics and Business (VŠE)</a:t>
            </a:r>
          </a:p>
        </p:txBody>
      </p:sp>
    </p:spTree>
    <p:extLst>
      <p:ext uri="{BB962C8B-B14F-4D97-AF65-F5344CB8AC3E}">
        <p14:creationId xmlns:p14="http://schemas.microsoft.com/office/powerpoint/2010/main" val="339594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78FF525C677EFA4A821FDF585503DC9C" ma:contentTypeVersion="3" ma:contentTypeDescription="Vytvoří nový dokument" ma:contentTypeScope="" ma:versionID="cd0f1e7abdf3b0ff24a59f18e09f3089">
  <xsd:schema xmlns:xsd="http://www.w3.org/2001/XMLSchema" xmlns:xs="http://www.w3.org/2001/XMLSchema" xmlns:p="http://schemas.microsoft.com/office/2006/metadata/properties" xmlns:ns2="652fcb68-003a-478a-b206-911abda9945b" targetNamespace="http://schemas.microsoft.com/office/2006/metadata/properties" ma:root="true" ma:fieldsID="34b86d620c7b6003b7f8e78e82d1f00f" ns2:_="">
    <xsd:import namespace="652fcb68-003a-478a-b206-911abda9945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2fcb68-003a-478a-b206-911abda994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1ACB13-8A29-4A3B-8103-285D7B8B6B81}">
  <ds:schemaRefs>
    <ds:schemaRef ds:uri="652fcb68-003a-478a-b206-911abda994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9233BAB-30DD-4112-B8B6-F28815D8B656}">
  <ds:schemaRefs>
    <ds:schemaRef ds:uri="http://schemas.microsoft.com/sharepoint/v3/contenttype/forms"/>
  </ds:schemaRefs>
</ds:datastoreItem>
</file>

<file path=customXml/itemProps3.xml><?xml version="1.0" encoding="utf-8"?>
<ds:datastoreItem xmlns:ds="http://schemas.openxmlformats.org/officeDocument/2006/customXml" ds:itemID="{433F7362-9698-421C-BB17-7A2E801A8639}">
  <ds:schemaRefs>
    <ds:schemaRef ds:uri="df0d07b4-efc4-43c9-bd64-11db95c5d7a7"/>
    <ds:schemaRef ds:uri="f458471c-4863-40f6-a5f6-0c566e5924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545</Words>
  <Application>Microsoft Office PowerPoint</Application>
  <PresentationFormat>Širokoúhlá obrazovka</PresentationFormat>
  <Paragraphs>47</Paragraphs>
  <Slides>14</Slides>
  <Notes>0</Notes>
  <HiddenSlides>0</HiddenSlides>
  <MMClips>0</MMClips>
  <ScaleCrop>false</ScaleCrop>
  <HeadingPairs>
    <vt:vector size="6" baseType="variant">
      <vt:variant>
        <vt:lpstr>Použitá písma</vt:lpstr>
      </vt:variant>
      <vt:variant>
        <vt:i4>6</vt:i4>
      </vt:variant>
      <vt:variant>
        <vt:lpstr>Motiv</vt:lpstr>
      </vt:variant>
      <vt:variant>
        <vt:i4>1</vt:i4>
      </vt:variant>
      <vt:variant>
        <vt:lpstr>Nadpisy snímků</vt:lpstr>
      </vt:variant>
      <vt:variant>
        <vt:i4>14</vt:i4>
      </vt:variant>
    </vt:vector>
  </HeadingPairs>
  <TitlesOfParts>
    <vt:vector size="21" baseType="lpstr">
      <vt:lpstr>Arial</vt:lpstr>
      <vt:lpstr>Calibri</vt:lpstr>
      <vt:lpstr>Calibri Light</vt:lpstr>
      <vt:lpstr>Montserrat ExtraBold</vt:lpstr>
      <vt:lpstr>Montserrat Light</vt:lpstr>
      <vt:lpstr>Montserrat Medium</vt:lpstr>
      <vt:lpstr>Motiv Office</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Jakub Jedlinský</dc:creator>
  <cp:lastModifiedBy>Jakub Jedlinsky</cp:lastModifiedBy>
  <cp:revision>20</cp:revision>
  <dcterms:created xsi:type="dcterms:W3CDTF">2022-11-01T13:04:57Z</dcterms:created>
  <dcterms:modified xsi:type="dcterms:W3CDTF">2023-10-19T13:20:31Z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0x01010078FF525C677EFA4A821FDF585503DC9C</vt:lpwstr>
  </property>
  <property fmtid="{D5CDD505-2E9C-101B-9397-08002B2CF9AE}" pid="3" name="Order">
    <vt:r8>700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ies>
</file>
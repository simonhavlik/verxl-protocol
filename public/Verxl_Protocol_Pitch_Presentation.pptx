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018"/>
    <a:srgbClr val="00A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FCE0D-32A5-4DEA-9E12-CB755EA1FACC}" v="72" dt="2023-03-24T23:19:40.919"/>
    <p1510:client id="{49D018A3-2D64-4FC8-B132-8FF03F8716C8}" v="46" dt="2023-03-24T23:22:05.892"/>
    <p1510:client id="{EC40C388-624B-41A8-AA48-BEDE8D7A09AC}" v="1573" dt="2023-03-24T20:05:28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(0:00 - 0:25 · 25s)</a:t>
            </a:r>
          </a:p>
          <a:p>
            <a:r>
              <a:t>Good morning. I'm Šimon Havlík from Prague University of Economics and Business. Today, I'm presenting Verxl Protocol: a capital-light, decentralized clearing switch for global AI inference. Hyperscalers like AWS and OpenAI extract 80 to 90% markups on commodity models while independent datacenters sit with idle GPUs. Verxl replaces this broken paradigm with a stateless, 50 basis point clearing switch settling natively on Arbitrum 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(0:25 - 0:35 · 10s)</a:t>
            </a:r>
          </a:p>
          <a:p>
            <a:r>
              <a:t>Let's begin with the core problem: the massive economic drag holding back artificial intelligence compute liquidity.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(0:35 - 1:10 · 35s)</a:t>
            </a:r>
          </a:p>
          <a:p>
            <a:r>
              <a:t>On this slide, you see the market arbitrage. Hyperscalers charge 80 to 90% margins on open-weight models, while independent European datacenters sit with idle GPUs because they lack retail distribution. Verxl solves this with an edge switch: developers point their existing code to our OpenAI-compatible endpoint, requests route to the lowest-latency GPU in 4 milliseconds, and the protocol settles in USDC for just 50 basis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(1:10 - 1:20 · 10s)</a:t>
            </a:r>
          </a:p>
          <a:p>
            <a:r>
              <a:t>Next, who is the customer, and why does this model achieve explosive product-market fit?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(1:20 - 1:55 · 35s)</a:t>
            </a:r>
          </a:p>
          <a:p>
            <a:r>
              <a:t>As a finance student, customer acquisition cost is paramount. Our audience consists of three crypto-native personas: tech-savvy bot developers, privacy-conscious fintech quants, and on-chain communities. Traditional SaaS companies burn hundreds of dollars on ad spend. In Verxl, our CAC is virtually zero because developers instantly save 90% on inference and participate directly in on-chain network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(1:55 - 2:05 · 10s)</a:t>
            </a:r>
          </a:p>
          <a:p>
            <a:r>
              <a:t>Let's examine the technical execution, proprietary architecture, and the team behind the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(2:05 - 2:40 · 35s)</a:t>
            </a:r>
          </a:p>
          <a:p>
            <a:r>
              <a:t>Verxl is built on four proprietary pillars: First, on-chain Aragon OSx contracts manage non-custodial escrows and collateral. Second, our stateless edge router dispatches requests in 3.8 milliseconds with zero proxy latency. Third, our seed=42 canary oracle continuously audits provider output, slashing degraded nodes by 10%. And fourth, our Charizard PostgreSQL ledger manages real-time balance clearing with 2FA security. Our core team comprises Šimon Havlík leading architecture and full-stack engineering, Daniel Kolárovský directing empirical SLA testing and process verification, and Miroslava Valová leading regulatory compliance, market research, and institutional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(2:40 - 2:50 · 10s)</a:t>
            </a:r>
          </a:p>
          <a:p>
            <a:r>
              <a:t>Now, let's explore our ultimate financial goal: building the decentralized clearinghouse for global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(2:50 - 3:30 · 40s)</a:t>
            </a:r>
          </a:p>
          <a:p>
            <a:r>
              <a:t>From a finance perspective, our economics are extraordinarily compelling. We take zero hardware CapEx and zero depreciation risk. Just like Visa collects a toll on payments, Verxl collects 50 basis points on compute. At 50 billion tokens a month, that is $3 million in monthly gross volume and $180,000 in annualized protocol cash flow. At 1 trillion tokens, the 50 bps switch yields $3.6 million in annual net cash flow, distributed directly to DAO stakers.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(3:30 - 3:40 · 10s)</a:t>
            </a:r>
          </a:p>
          <a:p>
            <a:r>
              <a:t>How do we measure success, and how is the protocol protected from regulatory and financial risks?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(3:40 - 4:15 · 35s)</a:t>
            </a:r>
          </a:p>
          <a:p>
            <a:r>
              <a:t>We evaluate success through four quantitative metrics: gross volume, sub-5 millisecond routing latency, 99.99% canary uptime, and treasury reserves. Equally vital is our institutional legal moat: under EU MiCA, Verxl is strictly non-custodial and exempt from CASP licensing. Furthermore, because our edge router streams data through RAM without storing prompts on disk, we have total GDPR and EU AI Act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(4:15 - 4:25 · 10s)</a:t>
            </a:r>
          </a:p>
          <a:p>
            <a:r>
              <a:t>Finally, let's review our strategic roadmap spanning 2026 through 2028.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(4:25 - 4:55 · 30s)</a:t>
            </a:r>
          </a:p>
          <a:p>
            <a:r>
              <a:t>Our roadmap spans four clear horizons. Horizon 1 is not a future promise — it is operational right now on mainnet at verxl.com. Horizon 2 brings decentralized provider staking and automated canary slashing. Horizon 3 introduces zero-knowledge cryptographic proofs of inference. And Horizon 4 unlocks the true machine-to-machine economy where autonomous AI agents pay each other directly via HTTP 402.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(4:55 - 5:00 · 5s)</a:t>
            </a:r>
          </a:p>
          <a:p>
            <a:r>
              <a:t>Thank you for your time. Verxl is live today at verxl.com, and I look forward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725E9D-9D43-5B8F-6EBA-75BDC2E5D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2927BE6-949E-9D2B-AA24-B73843633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43588AB-4EE9-1343-27CA-F3D17504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C493CC3-6A87-8535-9D29-C446700A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25C9BC-638C-EA36-940A-22B056B3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1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AD82CE-9968-07AE-844E-D1EEB36F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F2F517-926F-A577-8CD5-612E54662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7EAD90-9223-A428-543C-FAA7FFB4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F730BE0-C79F-044E-B48C-2ACAC616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CBB72B6-7AD1-4954-0AE8-A20A5808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523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E1EF34-AF54-E8F4-F889-BFA5102C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5475AAB-AD04-9BAE-B611-DBFA43963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9AFDCC-B4ED-755A-ACE1-870ECF1F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1C81D5D-57D8-855B-5F37-C98C8CFC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9037B4-8FEC-9E1F-A246-317FC8EA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353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0407D4-0A55-3B69-9101-45332619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3F0F16-94EF-664C-8FAD-A4139ED4B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947E6C9-EA48-0DBB-D077-5F10615BE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26E154-AE80-B5BA-C9FA-277AFFF4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C0144B7-1D86-918A-0369-8F35F667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3754B5A-201D-3174-B13D-09A68569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087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96DF9A-CF7A-C7C1-1C5D-0E1C6E96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543FF55-BE49-2646-FF78-8DF2E690F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FE1F0AC-545E-8F6A-E7FA-365A50D89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113E0F9-6027-485C-0D42-F50FEB43E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1633B31-AE49-F6BA-9529-3BA7A5C6F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486D974-1FB3-396A-7C16-FA5AB7B7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9EBDC1C-6036-18B8-B278-5C9B9533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A8037C9-41F6-48AF-33CB-665BADDD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518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B72A31-F209-FE1F-C195-310A9D59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2548C21-2219-12A9-D971-DD5E9CFA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A6FB549-6B5E-3C55-B589-37ADE20A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F25FBE8-875D-B32F-6E9E-D3EEF9ED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731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FDE3ABB-48A9-AEC4-D1EB-F002F1D0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A943863-C2BE-36B3-D577-D0A72055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63DEE5-4430-DB9C-708E-96DEF246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194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6865CB-A487-EB59-59AD-A06A8981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BBBC28-9461-1102-74B7-B8CFC7BE9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A20049C-2220-D5E2-1F83-E359DD4B8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DF09E16-FC30-A88C-01AB-C6CABB9E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722F420-2D51-F68F-DAD7-664DFA0F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3BCDF85-03BA-1444-96C8-15598227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663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B6515E-7166-C558-0A54-CB865AB1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D424105-4F13-2D39-3D93-FB915DF57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5804BC5-79FF-526E-0623-FB242B9C0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6632011-1906-EFF8-6A44-E1D5982B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A30F28A-6BC4-3B9A-ECA7-ABD6F548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4E00A17-A426-B3D3-1E50-7405B3A4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517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68D5A5-5388-2B07-A1B9-4BE699E3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9F77236-1036-E4B0-809D-45C0959D0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A538B0C-625F-9807-7539-8FB8C2CD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AC90EC9-E55C-89D3-1E87-C9FE5CDF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C96E05-6F05-3045-1904-4E0CD551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350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EA788A6-2475-2537-2BB7-5C76AEDB0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51F6194-D82A-D0C9-B569-7C6586210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7630106-90EF-A8C9-F864-EB253D7B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91199A-F80E-E477-3592-2C9746F0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1934B01-FDE6-4F51-F1A1-0EE95B2D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9155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4D247A1-2803-A936-C7D3-52D2347D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A52387D-BCE9-6FD2-5CAD-926B8E60E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695BA6-DF5D-75C1-E156-89AF5A45D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4B239-4AC8-45EB-B42D-A45531AD8587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309620-CC91-09BB-33D8-186CA2B42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877A51B-9B1F-7C61-6BB0-1F2142033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EA10F-EEA8-49F1-87A0-A064F39967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452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096FD19B-4955-322C-033A-347C76AF5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90" y="608565"/>
            <a:ext cx="4161577" cy="835353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093417AE-B98E-0F94-1741-FFC7B0AB6675}"/>
              </a:ext>
            </a:extLst>
          </p:cNvPr>
          <p:cNvSpPr txBox="1"/>
          <p:nvPr/>
        </p:nvSpPr>
        <p:spPr>
          <a:xfrm>
            <a:off x="522390" y="2230017"/>
            <a:ext cx="623284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VERXL PROTOCOL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Capital-Light Decentralized AI Inference Clearing Switch</a:t>
            </a:r>
          </a:p>
          <a:p>
            <a:br/>
            <a:pPr>
              <a:defRPr sz="1250">
                <a:solidFill>
                  <a:srgbClr val="94A3B8"/>
                </a:solidFill>
              </a:defRPr>
            </a:pPr>
            <a:r>
              <a:t>Šimon Havlík · Prague University of Economics and Business (VŠE Praha)</a:t>
            </a:r>
            <a:br/>
            <a:r>
              <a:t>Academic University Project Collaboration · 2026</a:t>
            </a:r>
          </a:p>
        </p:txBody>
      </p:sp>
    </p:spTree>
    <p:extLst>
      <p:ext uri="{BB962C8B-B14F-4D97-AF65-F5344CB8AC3E}">
        <p14:creationId xmlns:p14="http://schemas.microsoft.com/office/powerpoint/2010/main" val="74348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EEC66D-5705-EFA2-48CD-A20E207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4A6F61D-4F9D-3992-AE32-612997C07620}"/>
              </a:ext>
            </a:extLst>
          </p:cNvPr>
          <p:cNvSpPr txBox="1"/>
          <p:nvPr/>
        </p:nvSpPr>
        <p:spPr>
          <a:xfrm>
            <a:off x="345109" y="1228343"/>
            <a:ext cx="7492606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Montserrat ExtraBold"/>
              </a:rPr>
              <a:t>What problem does your project solve?</a:t>
            </a:r>
            <a:endParaRPr lang="en-US" sz="5400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304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0B31710B-8B9B-0342-73FA-85DF5ACB1FCB}"/>
              </a:ext>
            </a:extLst>
          </p:cNvPr>
          <p:cNvSpPr txBox="1"/>
          <p:nvPr/>
        </p:nvSpPr>
        <p:spPr>
          <a:xfrm>
            <a:off x="345108" y="257960"/>
            <a:ext cx="114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What problem does your project solve?</a:t>
            </a:r>
            <a:endParaRPr lang="cs-CZ">
              <a:solidFill>
                <a:schemeClr val="tx1">
                  <a:lumMod val="50000"/>
                  <a:lumOff val="50000"/>
                </a:schemeClr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The 80%+ Cloud AI Markup &amp; Fragmented GPU Compute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Centralized AI gateways are rent-seeking tollbooths holding back compute liquidity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b="1" sz="1350">
                <a:solidFill>
                  <a:srgbClr val="F87171"/>
                </a:solidFill>
              </a:defRPr>
            </a:pPr>
            <a:r>
              <a:t>🚨 HYPERSCALER MONOPOLY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80–90% Gross Margin Markups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AWS Bedrock and OpenAI extract massive markups on commodity open-source models (DeepSeek, Qwen).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Walled Gardens &amp; Account Freezes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Strict proprietary SDKs, arbitrary developer account freezes without appeal, and mandatory credit subscriptions.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Mandatory KYC &amp; Surveillance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Developers must submit passports, corporate documents, and phone numbers to run open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474720" cy="41148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b="1" sz="1350">
                <a:solidFill>
                  <a:srgbClr val="FBBF24"/>
                </a:solidFill>
              </a:defRPr>
            </a:pPr>
            <a:r>
              <a:t>⚡ IDLE COMPUTE BOTTLENECK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Thousands of Idle GPUs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Regional European and Asian datacenters hold unmonetized H100 and A100 clusters with zero retail distribution.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Zero Liquidity Routing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No unified, permissionless mechanism to aggregate distributed hardware into one high-availability endpoint.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30-Day Payment Friction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Hardware operators wait 30–60 days for fiat invoice clearing and lose 3% to traditional banking 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474720" cy="41148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b="1" sz="1350">
                <a:solidFill>
                  <a:srgbClr val="34D399"/>
                </a:solidFill>
              </a:defRPr>
            </a:pPr>
            <a:r>
              <a:t>💎 THE VERXL SWITCH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50 bps Transparent Clearing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Non-custodial edge router charges only 0.5% protocol spread — saving developers over 94% on fee markups.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OpenAI Drop-In Compatibility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Standard endpoint (`api.verxl.com/v1`). Any existing AI codebase runs with zero code modifications.</a:t>
            </a:r>
          </a:p>
          <a:p>
            <a:br/>
            <a:pPr>
              <a:defRPr b="1" sz="1050">
                <a:solidFill>
                  <a:srgbClr val="FFFFFF"/>
                </a:solidFill>
              </a:defRPr>
            </a:pPr>
            <a:r>
              <a:t>• Instant L2 Micro-Settlements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Arbitrum L2 settlements (&lt;$0.01 gas fee) allow compute nodes to withdraw earnings in seconds in USDC.</a:t>
            </a:r>
          </a:p>
        </p:txBody>
      </p:sp>
    </p:spTree>
    <p:extLst>
      <p:ext uri="{BB962C8B-B14F-4D97-AF65-F5344CB8AC3E}">
        <p14:creationId xmlns:p14="http://schemas.microsoft.com/office/powerpoint/2010/main" val="75323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EEC66D-5705-EFA2-48CD-A20E207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4A6F61D-4F9D-3992-AE32-612997C07620}"/>
              </a:ext>
            </a:extLst>
          </p:cNvPr>
          <p:cNvSpPr txBox="1"/>
          <p:nvPr/>
        </p:nvSpPr>
        <p:spPr>
          <a:xfrm>
            <a:off x="345109" y="1228343"/>
            <a:ext cx="74926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Montserrat ExtraBold" panose="00000900000000000000" pitchFamily="2" charset="0"/>
              </a:rPr>
              <a:t>Who is the target audience?</a:t>
            </a:r>
            <a:endParaRPr lang="cs-CZ" sz="540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19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0B31710B-8B9B-0342-73FA-85DF5ACB1FCB}"/>
              </a:ext>
            </a:extLst>
          </p:cNvPr>
          <p:cNvSpPr txBox="1"/>
          <p:nvPr/>
        </p:nvSpPr>
        <p:spPr>
          <a:xfrm>
            <a:off x="345108" y="257960"/>
            <a:ext cx="114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Who is the target audience?</a:t>
            </a:r>
            <a:endParaRPr lang="cs-CZ">
              <a:solidFill>
                <a:schemeClr val="tx1">
                  <a:lumMod val="50000"/>
                  <a:lumOff val="50000"/>
                </a:schemeClr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Target Audience: The Crypto-Native Adoption Triad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High-conviction, low-CAC customer acquisition engine leveraging on-chain incentives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789920" cy="118872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150">
                <a:solidFill>
                  <a:srgbClr val="38BDF8"/>
                </a:solidFill>
              </a:defRPr>
            </a:pPr>
            <a:r>
              <a:t>1. TECH-SAVVY &amp; API-FIRST DEVELOPERS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Autonomous Agent Builders &amp; Algorithmic Quants — Developers building AI trading bots, autonomous agents (OMP, Hermes), and automated pipelines. They demand raw speed, curl/TypeScript compatibility, and zero UI bloat.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70048"/>
            <a:ext cx="10789920" cy="118872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150">
                <a:solidFill>
                  <a:srgbClr val="34D399"/>
                </a:solidFill>
              </a:defRPr>
            </a:pPr>
            <a:r>
              <a:t>2. PRIVACY MAXIMALISTS &amp; ENTERPRISE COMPLIANCE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Confidential Compute &amp; Freedom of Speech — European fintech quants, researchers, and enterprises who cannot legally permit OpenAI or Microsoft to train on proprietary prompts. Verxl streams data through RAM with zero prompt retention.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68496"/>
            <a:ext cx="10789920" cy="118872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150">
                <a:solidFill>
                  <a:srgbClr val="C084FC"/>
                </a:solidFill>
              </a:defRPr>
            </a:pPr>
            <a:r>
              <a:t>3. ON-CHAIN IDENTIFIABLE COMMUNITY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Low CAC Customer Engine &amp; Token Alignment — Crypto-native developers actively seeking decentralized alternatives. Transparent on-chain volume drives viral adoption and staking alignment with near-zero CAC.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03520"/>
            <a:ext cx="10789920" cy="777240"/>
          </a:xfrm>
          <a:prstGeom prst="rect">
            <a:avLst/>
          </a:prstGeom>
          <a:solidFill>
            <a:srgbClr val="12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b="1" sz="1050">
                <a:solidFill>
                  <a:srgbClr val="FBBF24"/>
                </a:solidFill>
              </a:defRPr>
            </a:pPr>
            <a:r>
              <a:t>💰 FINANCIAL METRIC: CAPITAL-LIGHT GO-TO-MARKET FLYWHEEL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Traditional SaaS companies burn $150+ per customer on Google Ads. Verxl leverages on-chain incentive mechanics: direct 94% fee savings and transparent volume produce an effective CAC near $0 with a projected 25.9x LTV/CAC ratio.</a:t>
            </a:r>
          </a:p>
        </p:txBody>
      </p:sp>
    </p:spTree>
    <p:extLst>
      <p:ext uri="{BB962C8B-B14F-4D97-AF65-F5344CB8AC3E}">
        <p14:creationId xmlns:p14="http://schemas.microsoft.com/office/powerpoint/2010/main" val="387591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EEC66D-5705-EFA2-48CD-A20E207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4A6F61D-4F9D-3992-AE32-612997C07620}"/>
              </a:ext>
            </a:extLst>
          </p:cNvPr>
          <p:cNvSpPr txBox="1"/>
          <p:nvPr/>
        </p:nvSpPr>
        <p:spPr>
          <a:xfrm>
            <a:off x="345109" y="1228343"/>
            <a:ext cx="74926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Montserrat ExtraBold" panose="00000900000000000000" pitchFamily="2" charset="0"/>
              </a:rPr>
              <a:t>What is your role in the project?</a:t>
            </a:r>
            <a:endParaRPr lang="cs-CZ" sz="540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41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0B31710B-8B9B-0342-73FA-85DF5ACB1FCB}"/>
              </a:ext>
            </a:extLst>
          </p:cNvPr>
          <p:cNvSpPr txBox="1"/>
          <p:nvPr/>
        </p:nvSpPr>
        <p:spPr>
          <a:xfrm>
            <a:off x="345108" y="257960"/>
            <a:ext cx="114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What is your role in the project?</a:t>
            </a:r>
            <a:endParaRPr lang="cs-CZ">
              <a:solidFill>
                <a:schemeClr val="tx1">
                  <a:lumMod val="50000"/>
                  <a:lumOff val="50000"/>
                </a:schemeClr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Technical Architecture &amp; Core Protocol Engine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Engineered by Šimon Havlík, Daniel Kolárovský &amp; Miroslava Valová · Founding Assembly at VŠE Praha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0789920" cy="438912"/>
          </a:xfrm>
          <a:prstGeom prst="rect">
            <a:avLst/>
          </a:prstGeom>
          <a:solidFill>
            <a:srgbClr val="101A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b="1" sz="1000">
                <a:solidFill>
                  <a:srgbClr val="38BDF8"/>
                </a:solidFill>
              </a:defRPr>
            </a:pPr>
            <a:r>
              <a:t>👥 CORE TEAM: Šimon Havlík (Lead Architect &amp; Dev)  |  Daniel Kolárovský (QA &amp; Process Audit)  |  Miroslava Valová (Regulatory &amp; Strategy)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257800" cy="20574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38BDF8"/>
                </a:solidFill>
              </a:defRPr>
            </a:pPr>
            <a:r>
              <a:t>1. SMART CONTRACT &amp; DAO GOVERNANCE ARCHITECTURE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Aragon OSx On-Chain DAO: Modular governance contracts deployed on Arbitrum One governing protocol parameters.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Tokenomics &amp; Staking Vault: 1,000 $VRXL provider collateral requirement with automated 10% penalty slashes on SLA violations.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Non-Custodial Escrow: Direct smart-contract deposits ensuring protocol operators never custody user funds.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5257800" cy="20574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34D399"/>
                </a:solidFill>
              </a:defRPr>
            </a:pPr>
            <a:r>
              <a:t>2. STATELESS EDGE CLEARING SWITCH &amp; ROUTER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Sub-4ms Edge Routing: Cloudflare Pages Functions inspecting headers and dynamically dispatching to lowest-latency clusters.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Stateless RAM Streaming: Prompts and completions stream in RAM with zero disk persistence, guaranteeing GDPR compliance.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Automated Multi-Node Failover: Sub-second heartbeat health checks reroute inference queries instantly if a node drops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257800" cy="20574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FBBF24"/>
                </a:solidFill>
              </a:defRPr>
            </a:pPr>
            <a:r>
              <a:t>3. DETERMINISTIC CANARY QUALITY ORACLE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Seed=42 SLA Audits: Autonomous background oracle sends deterministic canary prompts every 60s verifying output authenticity.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Sub-200ms Verification: Instantly verifies whether host nodes are serving genuine unquantized model weights.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Cryptographic Slashing Proofs: Automated on-chain slashing triggers when model output deviates from ground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069080"/>
            <a:ext cx="5257800" cy="205740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C084FC"/>
                </a:solidFill>
              </a:defRPr>
            </a:pPr>
            <a:r>
              <a:t>4. FINANCIAL DATABASE &amp; PRODUCTION CLUSTER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Charizard PostgreSQL Ledger: Strict schema-isolated ledger (`verxl.*`) recording micro-settlements and balances.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RFC 6238 TOTP 2FA Infrastructure: PBKDF2 password hashing (100k rounds), pure WebCrypto TOTP validation, and 8 emergency codes.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Prague Bare-Metal GPU Host: `bulbasaur-prague-01` running Vulkan-accelerated local Qwen models with zero-overhead tunnels.</a:t>
            </a:r>
          </a:p>
        </p:txBody>
      </p:sp>
    </p:spTree>
    <p:extLst>
      <p:ext uri="{BB962C8B-B14F-4D97-AF65-F5344CB8AC3E}">
        <p14:creationId xmlns:p14="http://schemas.microsoft.com/office/powerpoint/2010/main" val="1962404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EEC66D-5705-EFA2-48CD-A20E207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4A6F61D-4F9D-3992-AE32-612997C07620}"/>
              </a:ext>
            </a:extLst>
          </p:cNvPr>
          <p:cNvSpPr txBox="1"/>
          <p:nvPr/>
        </p:nvSpPr>
        <p:spPr>
          <a:xfrm>
            <a:off x="345109" y="1228343"/>
            <a:ext cx="74926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Montserrat ExtraBold" panose="00000900000000000000" pitchFamily="2" charset="0"/>
              </a:rPr>
              <a:t>What is the goal of the project?</a:t>
            </a:r>
            <a:endParaRPr lang="cs-CZ" sz="540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341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0B31710B-8B9B-0342-73FA-85DF5ACB1FCB}"/>
              </a:ext>
            </a:extLst>
          </p:cNvPr>
          <p:cNvSpPr txBox="1"/>
          <p:nvPr/>
        </p:nvSpPr>
        <p:spPr>
          <a:xfrm>
            <a:off x="345108" y="257960"/>
            <a:ext cx="114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What is the goal of the project?</a:t>
            </a:r>
            <a:endParaRPr lang="cs-CZ">
              <a:solidFill>
                <a:schemeClr val="tx1">
                  <a:lumMod val="50000"/>
                  <a:lumOff val="50000"/>
                </a:schemeClr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Protocol Goal: Capital-Light Marketplace Economics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Zero hardware CapEx, 50 bps clearing take rate, and compounding financial velocity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789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b="1" sz="1150">
                <a:solidFill>
                  <a:srgbClr val="38BDF8"/>
                </a:solidFill>
              </a:defRPr>
            </a:pPr>
            <a:r>
              <a:t>CORE OBJECTIVE: THE NASDAQ / VISA OF ARTIFICIAL INTELLIGENCE COMPUTE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Visa does not own retail stores; NASDAQ does not own stocks; Airbnb does not build hotels. Verxl never buys GPUs, leases server rooms, or pays power bills. We are a pure financial clearing layer taking 50 basis points on every inference dollar.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474720" cy="333756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b="1" sz="1150">
                <a:solidFill>
                  <a:srgbClr val="94A3B8"/>
                </a:solidFill>
              </a:defRPr>
            </a:pPr>
            <a:r>
              <a:t>1. SEED PHASE (Q4 2026)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Monthly Inference Tokens: 500M Tokens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Gross Volume (GMV): $30,000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50 bps Protocol Take: $150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Connected Clusters: 10–25 Clusters</a:t>
            </a:r>
          </a:p>
          <a:p>
            <a:br/>
            <a:pPr>
              <a:defRPr sz="850">
                <a:solidFill>
                  <a:srgbClr val="94A3B8"/>
                </a:solidFill>
              </a:defRPr>
            </a:pPr>
            <a:r>
              <a:t>Focus: Initial bootstrap across European crypto developers and regional research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423160"/>
            <a:ext cx="3474720" cy="333756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b="1" sz="1150">
                <a:solidFill>
                  <a:srgbClr val="38BDF8"/>
                </a:solidFill>
              </a:defRPr>
            </a:pPr>
            <a:r>
              <a:t>2. SCALE PHASE (2027)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Monthly Inference Tokens: 50 Billion Tokens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Gross Volume (GMV): $3,000,000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50 bps Protocol Take: $15,000 / mo ($180k/yr)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Connected Clusters: 100–250 Clusters</a:t>
            </a:r>
          </a:p>
          <a:p>
            <a:br/>
            <a:pPr>
              <a:defRPr sz="850">
                <a:solidFill>
                  <a:srgbClr val="94A3B8"/>
                </a:solidFill>
              </a:defRPr>
            </a:pPr>
            <a:r>
              <a:t>Focus: Expansion into quant funds, autonomous agents, and commercial DeFi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423160"/>
            <a:ext cx="3474720" cy="333756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b="1" sz="1150">
                <a:solidFill>
                  <a:srgbClr val="34D399"/>
                </a:solidFill>
              </a:defRPr>
            </a:pPr>
            <a:r>
              <a:t>3. VELOCITY PHASE (2028+)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Monthly Inference Tokens: 1 Trillion Tokens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Gross Volume (GMV): $60,000,000 / month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50 bps Protocol Take: $300,000 / mo ($3.6M/yr)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Connected Clusters: 1,000+ Distributed Fleets</a:t>
            </a:r>
          </a:p>
          <a:p>
            <a:br/>
            <a:pPr>
              <a:defRPr sz="850">
                <a:solidFill>
                  <a:srgbClr val="94A3B8"/>
                </a:solidFill>
              </a:defRPr>
            </a:pPr>
            <a:r>
              <a:t>Focus: Machine-to-machine economy: autonomous AI agents clearing micro-inferences directly via HTTP 402.</a:t>
            </a:r>
          </a:p>
        </p:txBody>
      </p:sp>
    </p:spTree>
    <p:extLst>
      <p:ext uri="{BB962C8B-B14F-4D97-AF65-F5344CB8AC3E}">
        <p14:creationId xmlns:p14="http://schemas.microsoft.com/office/powerpoint/2010/main" val="3274124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EEC66D-5705-EFA2-48CD-A20E207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4A6F61D-4F9D-3992-AE32-612997C07620}"/>
              </a:ext>
            </a:extLst>
          </p:cNvPr>
          <p:cNvSpPr txBox="1"/>
          <p:nvPr/>
        </p:nvSpPr>
        <p:spPr>
          <a:xfrm>
            <a:off x="345109" y="1228343"/>
            <a:ext cx="74926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Montserrat ExtraBold" panose="00000900000000000000" pitchFamily="2" charset="0"/>
              </a:rPr>
              <a:t>How will you evaluate/measure if the project was successful?</a:t>
            </a:r>
            <a:endParaRPr lang="cs-CZ" sz="540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835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0B31710B-8B9B-0342-73FA-85DF5ACB1FCB}"/>
              </a:ext>
            </a:extLst>
          </p:cNvPr>
          <p:cNvSpPr txBox="1"/>
          <p:nvPr/>
        </p:nvSpPr>
        <p:spPr>
          <a:xfrm>
            <a:off x="345108" y="257960"/>
            <a:ext cx="114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How will you evaluate/measure if the project was successful?</a:t>
            </a:r>
            <a:endParaRPr lang="cs-CZ">
              <a:solidFill>
                <a:schemeClr val="tx1">
                  <a:lumMod val="50000"/>
                  <a:lumOff val="50000"/>
                </a:schemeClr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Evaluation Metrics &amp; EU Legal Defensibility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Rigorous quantitative benchmarks coupled with MiCA regulatory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257800" cy="438912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b="1" sz="1250">
                <a:solidFill>
                  <a:srgbClr val="34D399"/>
                </a:solidFill>
              </a:defRPr>
            </a:pPr>
            <a:r>
              <a:t>📊 QUANTITATIVE SUCCESS BENCHMARKS (KPIs)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Gross Inference Volume (GMV)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Target: Exceed $5M monthly GMV within 12 months of mainnet launch.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Sub-5ms Router Latency Overhead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Edge proxy overhead strictly capped below 5ms (measured 3.8ms in production).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Autonomous Canary SLA Uptime (99.99%)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Zero tolerance for degraded nodes: automated seed=42 slashing enforces 99.99% model accuracy.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DAO Treasury Growth &amp; Reserves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Positive cash flow: 80% protocol take retained in DAO reserve, 20% allocated to insurance.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5257800" cy="438912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⚖️ LEGAL STRUCTURE &amp; EU REGULATORY IMMUNITY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MiCA Non-Custodial Exemption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Under EU MiCA, purely technical non-custodial routers do not hold customer funds and are exempt from CASP licensing.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Stateless Edge Payload Routing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Prompts and completions stream in RAM and are never persisted to disk, fully complying with GDPR and EU AI Act Article 50.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Aragon OSx Decentralized Governance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Protocol parameter updates and fee changes are governed on-chain by the DAO, eliminating centralized promoter liabilities.</a:t>
            </a:r>
          </a:p>
          <a:p>
            <a:br/>
            <a:pPr>
              <a:defRPr b="1" sz="1000">
                <a:solidFill>
                  <a:srgbClr val="FFFFFF"/>
                </a:solidFill>
              </a:defRPr>
            </a:pPr>
            <a:r>
              <a:t>• Arbitrum L2 Native USDC Settlement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Micro-settlements utilize regulated Circle USDC on Arbitrum with verified on-chain proofs and deterministic smart contracts.</a:t>
            </a:r>
          </a:p>
        </p:txBody>
      </p:sp>
    </p:spTree>
    <p:extLst>
      <p:ext uri="{BB962C8B-B14F-4D97-AF65-F5344CB8AC3E}">
        <p14:creationId xmlns:p14="http://schemas.microsoft.com/office/powerpoint/2010/main" val="89811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EEC66D-5705-EFA2-48CD-A20E207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4A6F61D-4F9D-3992-AE32-612997C07620}"/>
              </a:ext>
            </a:extLst>
          </p:cNvPr>
          <p:cNvSpPr txBox="1"/>
          <p:nvPr/>
        </p:nvSpPr>
        <p:spPr>
          <a:xfrm>
            <a:off x="345108" y="1228343"/>
            <a:ext cx="81991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Montserrat ExtraBold" panose="00000900000000000000" pitchFamily="2" charset="0"/>
              </a:rPr>
              <a:t>What is the expected timeframe/duration of the project?</a:t>
            </a:r>
            <a:endParaRPr lang="cs-CZ" sz="540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9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0B31710B-8B9B-0342-73FA-85DF5ACB1FCB}"/>
              </a:ext>
            </a:extLst>
          </p:cNvPr>
          <p:cNvSpPr txBox="1"/>
          <p:nvPr/>
        </p:nvSpPr>
        <p:spPr>
          <a:xfrm>
            <a:off x="345108" y="257960"/>
            <a:ext cx="114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What is the expected timeframe/duration of the project?</a:t>
            </a:r>
            <a:endParaRPr lang="cs-CZ">
              <a:solidFill>
                <a:schemeClr val="tx1">
                  <a:lumMod val="50000"/>
                  <a:lumOff val="50000"/>
                </a:schemeClr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Project Roadmap: 4 Strategic Horizons (2026–2028)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From live non-custodial clearing to autonomous machine-to-machine micro-clearing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560320" cy="429768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34D399"/>
                </a:solidFill>
              </a:defRPr>
            </a:pPr>
            <a:r>
              <a:t>HORIZON 1 (Q4 2026)</a:t>
            </a:r>
          </a:p>
          <a:p>
            <a:pPr>
              <a:defRPr b="1" sz="900">
                <a:solidFill>
                  <a:srgbClr val="FFFFFF"/>
                </a:solidFill>
              </a:defRPr>
            </a:pPr>
            <a:r>
              <a:t>LIVE ON MAINNET</a:t>
            </a:r>
          </a:p>
          <a:p>
            <a:br/>
            <a:pPr>
              <a:defRPr b="1" sz="850">
                <a:solidFill>
                  <a:srgbClr val="34D399"/>
                </a:solidFill>
              </a:defRPr>
            </a:pPr>
            <a:r>
              <a:t>• Status: OPERATIONAL: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100% Complete</a:t>
            </a:r>
          </a:p>
          <a:p>
            <a:br/>
            <a:pPr>
              <a:defRPr b="1" sz="850">
                <a:solidFill>
                  <a:srgbClr val="34D399"/>
                </a:solidFill>
              </a:defRPr>
            </a:pPr>
            <a:r>
              <a:t>• Live 50 bps Switch: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Stateless Cloudflare edge router deployed.</a:t>
            </a:r>
          </a:p>
          <a:p>
            <a:br/>
            <a:pPr>
              <a:defRPr b="1" sz="850">
                <a:solidFill>
                  <a:srgbClr val="34D399"/>
                </a:solidFill>
              </a:defRPr>
            </a:pPr>
            <a:r>
              <a:t>• PostgreSQL Ledger: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Isolated `verxl.*` schema on Charizard.</a:t>
            </a:r>
          </a:p>
          <a:p>
            <a:br/>
            <a:pPr>
              <a:defRPr b="1" sz="850">
                <a:solidFill>
                  <a:srgbClr val="34D399"/>
                </a:solidFill>
              </a:defRPr>
            </a:pPr>
            <a:r>
              <a:t>• 2FA &amp; PBKDF2 Auth: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WebCrypto TOTP + emergency codes.</a:t>
            </a:r>
          </a:p>
          <a:p>
            <a:br/>
            <a:pPr>
              <a:defRPr b="1" sz="850">
                <a:solidFill>
                  <a:srgbClr val="34D399"/>
                </a:solidFill>
              </a:defRPr>
            </a:pPr>
            <a:r>
              <a:t>• DAO Contracts: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Aragon OSx governance live on Sepolia/Arbitrum.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429768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38BDF8"/>
                </a:solidFill>
              </a:defRPr>
            </a:pPr>
            <a:r>
              <a:t>HORIZON 2 (Q1–Q2 2027)</a:t>
            </a:r>
          </a:p>
          <a:p>
            <a:pPr>
              <a:defRPr b="1" sz="900">
                <a:solidFill>
                  <a:srgbClr val="FFFFFF"/>
                </a:solidFill>
              </a:defRPr>
            </a:pPr>
            <a:r>
              <a:t>CANARY SLASHING FLEET</a:t>
            </a:r>
          </a:p>
          <a:p>
            <a:br/>
            <a:pPr>
              <a:defRPr b="1" sz="850">
                <a:solidFill>
                  <a:srgbClr val="38BDF8"/>
                </a:solidFill>
              </a:defRPr>
            </a:pPr>
            <a:r>
              <a:t>• Status: IN DEVELOPMENT: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45% Complete</a:t>
            </a:r>
          </a:p>
          <a:p>
            <a:br/>
            <a:pPr>
              <a:defRPr b="1" sz="850">
                <a:solidFill>
                  <a:srgbClr val="38BDF8"/>
                </a:solidFill>
              </a:defRPr>
            </a:pPr>
            <a:r>
              <a:t>• Provider Registry: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Staking 1,000 $VRXL minimum collateral.</a:t>
            </a:r>
          </a:p>
          <a:p>
            <a:br/>
            <a:pPr>
              <a:defRPr b="1" sz="850">
                <a:solidFill>
                  <a:srgbClr val="38BDF8"/>
                </a:solidFill>
              </a:defRPr>
            </a:pPr>
            <a:r>
              <a:t>• Seed=42 Slashing: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Automated 10% collateral slash on SLA fail.</a:t>
            </a:r>
          </a:p>
          <a:p>
            <a:br/>
            <a:pPr>
              <a:defRPr b="1" sz="850">
                <a:solidFill>
                  <a:srgbClr val="38BDF8"/>
                </a:solidFill>
              </a:defRPr>
            </a:pPr>
            <a:r>
              <a:t>• Hardware Clusters: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Integration of 50+ independent GPU clusters.</a:t>
            </a:r>
          </a:p>
          <a:p>
            <a:br/>
            <a:pPr>
              <a:defRPr b="1" sz="850">
                <a:solidFill>
                  <a:srgbClr val="38BDF8"/>
                </a:solidFill>
              </a:defRPr>
            </a:pPr>
            <a:r>
              <a:t>• Public Console 2.0: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One-click provider deployment CLI.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560320" cy="429768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C084FC"/>
                </a:solidFill>
              </a:defRPr>
            </a:pPr>
            <a:r>
              <a:t>HORIZON 3 (Q3–Q4 2027)</a:t>
            </a:r>
          </a:p>
          <a:p>
            <a:pPr>
              <a:defRPr b="1" sz="900">
                <a:solidFill>
                  <a:srgbClr val="FFFFFF"/>
                </a:solidFill>
              </a:defRPr>
            </a:pPr>
            <a:r>
              <a:t>ZK-PROOFS OF INFERENCE</a:t>
            </a:r>
          </a:p>
          <a:p>
            <a:br/>
            <a:pPr>
              <a:defRPr b="1" sz="850">
                <a:solidFill>
                  <a:srgbClr val="C084FC"/>
                </a:solidFill>
              </a:defRPr>
            </a:pPr>
            <a:r>
              <a:t>• Status: PLANNED: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Research Phase</a:t>
            </a:r>
          </a:p>
          <a:p>
            <a:br/>
            <a:pPr>
              <a:defRPr b="1" sz="850">
                <a:solidFill>
                  <a:srgbClr val="C084FC"/>
                </a:solidFill>
              </a:defRPr>
            </a:pPr>
            <a:r>
              <a:t>• Zero-Knowledge Proofs: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Succinct ZK-SNARK output verification.</a:t>
            </a:r>
          </a:p>
          <a:p>
            <a:br/>
            <a:pPr>
              <a:defRPr b="1" sz="850">
                <a:solidFill>
                  <a:srgbClr val="C084FC"/>
                </a:solidFill>
              </a:defRPr>
            </a:pPr>
            <a:r>
              <a:t>• Non-Repudiation: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Cryptographic proof of model execution.</a:t>
            </a:r>
          </a:p>
          <a:p>
            <a:br/>
            <a:pPr>
              <a:defRPr b="1" sz="850">
                <a:solidFill>
                  <a:srgbClr val="C084FC"/>
                </a:solidFill>
              </a:defRPr>
            </a:pPr>
            <a:r>
              <a:t>• Enterprise SLA Vaults: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DeFi insurance pools backing uptime.</a:t>
            </a:r>
          </a:p>
          <a:p>
            <a:br/>
            <a:pPr>
              <a:defRPr b="1" sz="850">
                <a:solidFill>
                  <a:srgbClr val="C084FC"/>
                </a:solidFill>
              </a:defRPr>
            </a:pPr>
            <a:r>
              <a:t>• Institutional Gateway: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Direct sub-millisecond dark-pool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371600"/>
            <a:ext cx="2560320" cy="4297680"/>
          </a:xfrm>
          <a:prstGeom prst="roundRect">
            <a:avLst/>
          </a:prstGeom>
          <a:solidFill>
            <a:srgbClr val="0C121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b="1" sz="1050">
                <a:solidFill>
                  <a:srgbClr val="FBBF24"/>
                </a:solidFill>
              </a:defRPr>
            </a:pPr>
            <a:r>
              <a:t>HORIZON 4 (2028+)</a:t>
            </a:r>
          </a:p>
          <a:p>
            <a:pPr>
              <a:defRPr b="1" sz="900">
                <a:solidFill>
                  <a:srgbClr val="FFFFFF"/>
                </a:solidFill>
              </a:defRPr>
            </a:pPr>
            <a:r>
              <a:t>M2M AGENT ECONOMY</a:t>
            </a:r>
          </a:p>
          <a:p>
            <a:br/>
            <a:pPr>
              <a:defRPr b="1" sz="850">
                <a:solidFill>
                  <a:srgbClr val="FBBF24"/>
                </a:solidFill>
              </a:defRPr>
            </a:pPr>
            <a:r>
              <a:t>• Status: PLANNED: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Future Horizon</a:t>
            </a:r>
          </a:p>
          <a:p>
            <a:br/>
            <a:pPr>
              <a:defRPr b="1" sz="850">
                <a:solidFill>
                  <a:srgbClr val="FBBF24"/>
                </a:solidFill>
              </a:defRPr>
            </a:pPr>
            <a:r>
              <a:t>• HTTP 402 Micropayments: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Direct agent-to-agent inference payment.</a:t>
            </a:r>
          </a:p>
          <a:p>
            <a:br/>
            <a:pPr>
              <a:defRPr b="1" sz="850">
                <a:solidFill>
                  <a:srgbClr val="FBBF24"/>
                </a:solidFill>
              </a:defRPr>
            </a:pPr>
            <a:r>
              <a:t>• Autonomous AI Nodes: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Agents hire compute without human intervention.</a:t>
            </a:r>
          </a:p>
          <a:p>
            <a:br/>
            <a:pPr>
              <a:defRPr b="1" sz="850">
                <a:solidFill>
                  <a:srgbClr val="FBBF24"/>
                </a:solidFill>
              </a:defRPr>
            </a:pPr>
            <a:r>
              <a:t>• Decentralized Weights: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P2P sharded model weights over IPFS/libp2p.</a:t>
            </a:r>
          </a:p>
          <a:p>
            <a:br/>
            <a:pPr>
              <a:defRPr b="1" sz="850">
                <a:solidFill>
                  <a:srgbClr val="FBBF24"/>
                </a:solidFill>
              </a:defRPr>
            </a:pPr>
            <a:r>
              <a:t>• Global Compute Mesh: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Ubiquitous multi-cloud decentralized clearing.</a:t>
            </a:r>
          </a:p>
        </p:txBody>
      </p:sp>
    </p:spTree>
    <p:extLst>
      <p:ext uri="{BB962C8B-B14F-4D97-AF65-F5344CB8AC3E}">
        <p14:creationId xmlns:p14="http://schemas.microsoft.com/office/powerpoint/2010/main" val="3120329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096FD19B-4955-322C-033A-347C76AF5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90" y="608565"/>
            <a:ext cx="4161577" cy="835353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093417AE-B98E-0F94-1741-FFC7B0AB6675}"/>
              </a:ext>
            </a:extLst>
          </p:cNvPr>
          <p:cNvSpPr txBox="1"/>
          <p:nvPr/>
        </p:nvSpPr>
        <p:spPr>
          <a:xfrm>
            <a:off x="522390" y="1745923"/>
            <a:ext cx="6232849" cy="3231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Thank you for your attention!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Verxl Protocol · The Capital-Light Clearing Switch for Global AI Compute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Presenter: Šimon Havlík (havlik.simon@post.cz)</a:t>
            </a:r>
            <a:br/>
            <a:r>
              <a:t>Live Platform: https://verxl.com  ·  Documentation: https://verxl.com/whitepaper</a:t>
            </a:r>
            <a:br/>
            <a:r>
              <a:t>Prague University of Economics and Business (VŠE Praha)</a:t>
            </a:r>
          </a:p>
        </p:txBody>
      </p:sp>
    </p:spTree>
    <p:extLst>
      <p:ext uri="{BB962C8B-B14F-4D97-AF65-F5344CB8AC3E}">
        <p14:creationId xmlns:p14="http://schemas.microsoft.com/office/powerpoint/2010/main" val="339594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FF525C677EFA4A821FDF585503DC9C" ma:contentTypeVersion="3" ma:contentTypeDescription="Vytvoří nový dokument" ma:contentTypeScope="" ma:versionID="cd0f1e7abdf3b0ff24a59f18e09f3089">
  <xsd:schema xmlns:xsd="http://www.w3.org/2001/XMLSchema" xmlns:xs="http://www.w3.org/2001/XMLSchema" xmlns:p="http://schemas.microsoft.com/office/2006/metadata/properties" xmlns:ns2="652fcb68-003a-478a-b206-911abda9945b" targetNamespace="http://schemas.microsoft.com/office/2006/metadata/properties" ma:root="true" ma:fieldsID="34b86d620c7b6003b7f8e78e82d1f00f" ns2:_="">
    <xsd:import namespace="652fcb68-003a-478a-b206-911abda994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fcb68-003a-478a-b206-911abda994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1ACB13-8A29-4A3B-8103-285D7B8B6B81}">
  <ds:schemaRefs>
    <ds:schemaRef ds:uri="652fcb68-003a-478a-b206-911abda994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9233BAB-30DD-4112-B8B6-F28815D8B6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F7362-9698-421C-BB17-7A2E801A8639}">
  <ds:schemaRefs>
    <ds:schemaRef ds:uri="df0d07b4-efc4-43c9-bd64-11db95c5d7a7"/>
    <ds:schemaRef ds:uri="f458471c-4863-40f6-a5f6-0c566e5924d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Širokoúhlá obrazovka</PresentationFormat>
  <Paragraphs>47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Montserrat ExtraBold</vt:lpstr>
      <vt:lpstr>Montserrat Light</vt:lpstr>
      <vt:lpstr>Montserrat Medium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Jakub Jedlinský</dc:creator>
  <cp:lastModifiedBy>Jakub Jedlinsky</cp:lastModifiedBy>
  <cp:revision>20</cp:revision>
  <dcterms:created xsi:type="dcterms:W3CDTF">2022-11-01T13:04:57Z</dcterms:created>
  <dcterms:modified xsi:type="dcterms:W3CDTF">2023-10-19T13:20:31Z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0x01010078FF525C677EFA4A821FDF585503DC9C</vt:lpwstr>
  </property>
  <property fmtid="{D5CDD505-2E9C-101B-9397-08002B2CF9AE}" pid="3" name="Order">
    <vt:r8>700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